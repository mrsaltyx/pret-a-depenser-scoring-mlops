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harts/chart10_1.xml" ContentType="application/vnd.openxmlformats-officedocument.drawingml.chart+xml"/>
  <Override PartName="/ppt/charts/chart12_1.xml" ContentType="application/vnd.openxmlformats-officedocument.drawingml.chart+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type="custom"/>
  <p:notesSz cx="12192000" cy="6858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ableStyles" Target="tableStyles.xml"/></Relationships>
</file>

<file path=ppt/charts/_rels/chart10_1.xml.rels><?xml version="1.0" encoding="UTF-8" standalone="yes"?><Relationships xmlns="http://schemas.openxmlformats.org/package/2006/relationships"><Relationship Id="rId1" Type="http://schemas.openxmlformats.org/officeDocument/2006/relationships/package" Target="../embeddings/Microsoft_Excel_Worksheet_chart10_1.xlsx"/></Relationships>
</file>

<file path=ppt/charts/_rels/chart12_1.xml.rels><?xml version="1.0" encoding="UTF-8" standalone="yes"?><Relationships xmlns="http://schemas.openxmlformats.org/package/2006/relationships"><Relationship Id="rId1" Type="http://schemas.openxmlformats.org/officeDocument/2006/relationships/package" Target="../embeddings/Microsoft_Excel_Worksheet_chart12_1.xlsx"/></Relationships>
</file>

<file path=ppt/charts/chart10_1.xml><?xml version="1.0" encoding="utf-8"?>
<c:chartSpace xmlns:c="http://schemas.openxmlformats.org/drawingml/2006/chart" xmlns:a="http://schemas.openxmlformats.org/drawingml/2006/main" xmlns:r="http://schemas.openxmlformats.org/officeDocument/2006/relationships">
  <c:date1904 val="0"/>
  <c:chart>
    <c:plotArea>
      <c:layout/>
      <c:barChart>
        <c:barDir val="bar"/>
        <c:grouping val="clustered"/>
        <c:varyColors val="0"/>
        <c:ser>
          <c:idx val="0"/>
          <c:order val="0"/>
          <c:tx>
            <c:strRef>
              <c:f>Sheet1!$B$1</c:f>
              <c:strCache>
                <c:ptCount val="1"/>
                <c:pt idx="0">
                  <c:v>Score de dérive</c:v>
                </c:pt>
              </c:strCache>
            </c:strRef>
          </c:tx>
          <c:spPr>
            <a:solidFill>
              <a:srgbClr val="C96A1B"/>
            </a:solidFill>
          </c:spPr>
          <c:dLbls>
            <c:txPr>
              <a:bodyPr/>
              <a:lstStyle/>
              <a:p>
                <a:pPr>
                  <a:defRPr sz="1100" noProof="1" b="0" i="0" u="none" strike="noStrike">
                    <a:latin typeface="Arial"/>
                  </a:defRPr>
                </a:pPr>
                <a:endParaRPr lang="en-US" noProof="1"/>
              </a:p>
            </c:txPr>
            <c:dLblPos val="ctr"/>
            <c:showLegendKey val="0"/>
            <c:showVal val="1"/>
            <c:showCatName val="0"/>
            <c:showSerName val="0"/>
            <c:showPercent val="0"/>
            <c:showBubbleSize val="0"/>
          </c:dLbls>
          <c:cat>
            <c:strRef>
              <c:f>Sheet1!$A$2:$A$7</c:f>
              <c:strCache>
                <c:ptCount val="6"/>
                <c:pt idx="0">
                  <c:v>AMT_CREDIT (×1,40)</c:v>
                </c:pt>
                <c:pt idx="1">
                  <c:v>EXT_SOURCE_2 (−0,08)</c:v>
                </c:pt>
                <c:pt idx="2">
                  <c:v>DAYS_BIRTH (+1500 j)</c:v>
                </c:pt>
                <c:pt idx="3">
                  <c:v>AMT_INCOME_TOTAL (×0,85)</c:v>
                </c:pt>
                <c:pt idx="4">
                  <c:v>score (sortie modèle)</c:v>
                </c:pt>
                <c:pt idx="5">
                  <c:v>EXT_SOURCE_3 (−0,05)</c:v>
                </c:pt>
              </c:strCache>
            </c:strRef>
          </c:cat>
          <c:val>
            <c:numRef>
              <c:f>Sheet1!$B$2:$B$7</c:f>
              <c:numCache>
                <c:formatCode>General</c:formatCode>
                <c:ptCount val="6"/>
                <c:pt idx="0">
                  <c:v>0.456</c:v>
                </c:pt>
                <c:pt idx="1">
                  <c:v>0.436</c:v>
                </c:pt>
                <c:pt idx="2">
                  <c:v>0.31</c:v>
                </c:pt>
                <c:pt idx="3">
                  <c:v>0.302</c:v>
                </c:pt>
                <c:pt idx="4">
                  <c:v>0.217</c:v>
                </c:pt>
                <c:pt idx="5">
                  <c:v>0.026</c:v>
                </c:pt>
              </c:numCache>
            </c:numRef>
          </c:val>
        </c:ser>
        <c:gapWidth val="56"/>
        <c:overlap val="0"/>
        <c:axId val="1"/>
        <c:axId val="2"/>
      </c:barChart>
      <c:catAx>
        <c:axId val="1"/>
        <c:scaling>
          <c:orientation val="minMax"/>
        </c:scaling>
        <c:delete val="0"/>
        <c:axPos val="b"/>
        <c:numFmt formatCode="General" sourceLinked="1"/>
        <c:majorTickMark val="out"/>
        <c:minorTickMark val="none"/>
        <c:tickLblPos val="low"/>
        <c:spPr>
          <a:ln w="12700">
            <a:solidFill>
              <a:srgbClr val="888888"/>
            </a:solidFill>
          </a:ln>
        </c:spPr>
        <c:txPr>
          <a:bodyPr/>
          <a:lstStyle/>
          <a:p>
            <a:pPr>
              <a:defRPr sz="1050" noProof="1" b="0" i="0" u="none" strike="noStrike">
                <a:latin typeface="Arial"/>
              </a:defRPr>
            </a:pPr>
            <a:endParaRPr lang="en-US" noProof="1"/>
          </a:p>
        </c:txPr>
        <c:crossAx val="2"/>
        <c:crosses val="autoZero"/>
        <c:auto val="1"/>
        <c:lblAlgn val="ctr"/>
        <c:noMultiLvlLbl val="1"/>
      </c:catAx>
      <c:valAx>
        <c:axId val="2"/>
        <c:scaling>
          <c:orientation val="minMax"/>
          <c:max val="0.5"/>
          <c:min val="0"/>
        </c:scaling>
        <c:delete val="0"/>
        <c:axPos val="l"/>
        <c:majorGridlines>
          <c:spPr>
            <a:ln w="9525">
              <a:solidFill>
                <a:srgbClr val="D8DEE4"/>
              </a:solidFill>
            </a:ln>
          </c:spPr>
        </c:majorGridlines>
        <c:numFmt formatCode="General" sourceLinked="0"/>
        <c:majorTickMark val="out"/>
        <c:minorTickMark val="none"/>
        <c:tickLblPos val="nextTo"/>
        <c:spPr>
          <a:ln w="12700">
            <a:solidFill>
              <a:srgbClr val="888888"/>
            </a:solidFill>
          </a:ln>
        </c:spPr>
        <c:txPr>
          <a:bodyPr/>
          <a:lstStyle/>
          <a:p>
            <a:pPr>
              <a:defRPr sz="1000" noProof="1" b="0" i="0" u="none" strike="noStrike">
                <a:latin typeface="Arial"/>
              </a:defRPr>
            </a:pPr>
            <a:endParaRPr lang="en-US" noProof="1"/>
          </a:p>
        </c:txPr>
        <c:crossAx val="1"/>
        <c:crosses val="autoZero"/>
        <c:crossBetween val="between"/>
        <c:majorUnit val="0.1"/>
      </c:valAx>
      <c:spPr>
        <a:noFill/>
        <a:ln>
          <a:noFill/>
        </a:ln>
      </c:spPr>
    </c:plotArea>
    <c:plotVisOnly val="1"/>
    <c:dispBlanksAs val="gap"/>
  </c:chart>
  <c:spPr>
    <a:noFill/>
    <a:ln>
      <a:noFill/>
    </a:ln>
  </c:spPr>
  <c:externalData r:id="rId1">
    <c:autoUpdate val="0"/>
  </c:externalData>
</c:chartSpace>
</file>

<file path=ppt/charts/chart12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strRef>
              <c:f>Sheet1!$B$1</c:f>
              <c:strCache>
                <c:ptCount val="1"/>
                <c:pt idx="0">
                  <c:v>Latence médiane (ms)</c:v>
                </c:pt>
              </c:strCache>
            </c:strRef>
          </c:tx>
          <c:spPr>
            <a:solidFill>
              <a:srgbClr val="16324F"/>
            </a:solidFill>
          </c:spPr>
          <c:dLbls>
            <c:txPr>
              <a:bodyPr/>
              <a:lstStyle/>
              <a:p>
                <a:pPr>
                  <a:defRPr sz="1100" noProof="1" b="0" i="0" u="none" strike="noStrike">
                    <a:latin typeface="Arial"/>
                  </a:defRPr>
                </a:pPr>
                <a:endParaRPr lang="en-US" noProof="1"/>
              </a:p>
            </c:txPr>
            <c:dLblPos val="ctr"/>
            <c:showLegendKey val="0"/>
            <c:showVal val="1"/>
            <c:showCatName val="0"/>
            <c:showSerName val="0"/>
            <c:showPercent val="0"/>
            <c:showBubbleSize val="0"/>
          </c:dLbls>
          <c:cat>
            <c:strRef>
              <c:f>Sheet1!$A$2:$A$5</c:f>
              <c:strCache>
                <c:ptCount val="4"/>
                <c:pt idx="0">
                  <c:v>API naïve (DataFrame + coercion)</c:v>
                </c:pt>
                <c:pt idx="1">
                  <c:v>predict_proba sklearn</c:v>
                </c:pt>
                <c:pt idx="2">
                  <c:v>booster LightGBM bas niveau</c:v>
                </c:pt>
                <c:pt idx="3">
                  <c:v>ONNX Runtime (numpy float32)</c:v>
                </c:pt>
              </c:strCache>
            </c:strRef>
          </c:cat>
          <c:val>
            <c:numRef>
              <c:f>Sheet1!$B$2:$B$5</c:f>
              <c:numCache>
                <c:formatCode>General</c:formatCode>
                <c:ptCount val="4"/>
                <c:pt idx="0">
                  <c:v>31.4</c:v>
                </c:pt>
                <c:pt idx="1">
                  <c:v>3.14</c:v>
                </c:pt>
                <c:pt idx="2">
                  <c:v>0.137</c:v>
                </c:pt>
                <c:pt idx="3">
                  <c:v>0.0156</c:v>
                </c:pt>
              </c:numCache>
            </c:numRef>
          </c:val>
        </c:ser>
        <c:gapWidth val="56"/>
        <c:overlap val="0"/>
        <c:axId val="1"/>
        <c:axId val="2"/>
      </c:barChart>
      <c:catAx>
        <c:axId val="1"/>
        <c:scaling>
          <c:orientation val="minMax"/>
        </c:scaling>
        <c:delete val="0"/>
        <c:axPos val="b"/>
        <c:numFmt formatCode="General" sourceLinked="1"/>
        <c:majorTickMark val="out"/>
        <c:minorTickMark val="none"/>
        <c:tickLblPos val="low"/>
        <c:spPr>
          <a:ln w="12700">
            <a:solidFill>
              <a:srgbClr val="888888"/>
            </a:solidFill>
          </a:ln>
        </c:spPr>
        <c:txPr>
          <a:bodyPr/>
          <a:lstStyle/>
          <a:p>
            <a:pPr>
              <a:defRPr sz="950" noProof="1" b="0" i="0" u="none" strike="noStrike">
                <a:latin typeface="Arial"/>
              </a:defRPr>
            </a:pPr>
            <a:endParaRPr lang="en-US" noProof="1"/>
          </a:p>
        </c:txPr>
        <c:crossAx val="2"/>
        <c:crosses val="autoZero"/>
        <c:auto val="1"/>
        <c:lblAlgn val="ctr"/>
        <c:noMultiLvlLbl val="1"/>
      </c:catAx>
      <c:valAx>
        <c:axId val="2"/>
        <c:scaling>
          <c:orientation val="minMax"/>
          <c:max val="40"/>
          <c:min val="0"/>
        </c:scaling>
        <c:delete val="0"/>
        <c:axPos val="l"/>
        <c:majorGridlines>
          <c:spPr>
            <a:ln w="9525">
              <a:solidFill>
                <a:srgbClr val="D8DEE4"/>
              </a:solidFill>
            </a:ln>
          </c:spPr>
        </c:majorGridlines>
        <c:numFmt formatCode="General" sourceLinked="0"/>
        <c:majorTickMark val="out"/>
        <c:minorTickMark val="none"/>
        <c:tickLblPos val="nextTo"/>
        <c:spPr>
          <a:ln w="12700">
            <a:solidFill>
              <a:srgbClr val="888888"/>
            </a:solidFill>
          </a:ln>
        </c:spPr>
        <c:txPr>
          <a:bodyPr/>
          <a:lstStyle/>
          <a:p>
            <a:pPr>
              <a:defRPr sz="1000" noProof="1" b="0" i="0" u="none" strike="noStrike">
                <a:latin typeface="Arial"/>
              </a:defRPr>
            </a:pPr>
            <a:endParaRPr lang="en-US" noProof="1"/>
          </a:p>
        </c:txPr>
        <c:crossAx val="1"/>
        <c:crosses val="autoZero"/>
        <c:crossBetween val="between"/>
        <c:majorUnit val="10"/>
      </c:valAx>
      <c:spPr>
        <a:noFill/>
        <a:ln>
          <a:noFill/>
        </a:ln>
      </c:spPr>
    </c:plotArea>
    <c:plotVisOnly val="1"/>
    <c:dispBlanksAs val="gap"/>
  </c:chart>
  <c:spPr>
    <a:noFill/>
    <a:ln>
      <a:noFill/>
    </a:ln>
  </c:spPr>
  <c:externalData r:id="rId1">
    <c:autoUpdate val="0"/>
  </c:externalData>
</c:chartSpace>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_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_1.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0_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_1.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2_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Mrsaltyx/pret-a-depenser-scoring-mlops" TargetMode="Externa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op-line"/>
          <p:cNvSpPr/>
          <p:nvPr/>
        </p:nvSpPr>
        <p:spPr>
          <a:xfrm>
            <a:off x="711200" y="1524000"/>
            <a:ext cx="812800" cy="63500"/>
          </a:xfrm>
          <a:prstGeom prst="rect">
            <a:avLst/>
          </a:prstGeom>
          <a:solidFill>
            <a:srgbClr val="C96A1B"/>
          </a:solidFill>
          <a:ln>
            <a:noFill/>
          </a:ln>
        </p:spPr>
      </p:sp>
      <p:sp>
        <p:nvSpPr>
          <p:cNvPr id="3" name="kicker"/>
          <p:cNvSpPr txBox="1"/>
          <p:nvPr/>
        </p:nvSpPr>
        <p:spPr>
          <a:xfrm>
            <a:off x="711200" y="1778000"/>
            <a:ext cx="7620000" cy="279400"/>
          </a:xfrm>
          <a:prstGeom prst="rect">
            <a:avLst/>
          </a:prstGeom>
          <a:noFill/>
          <a:ln>
            <a:noFill/>
          </a:ln>
        </p:spPr>
        <p:txBody>
          <a:bodyPr lIns="0" rIns="0" tIns="0" bIns="0" wrap="none" rtlCol="0"/>
          <a:lstStyle/>
          <a:p>
            <a:pPr>
              <a:lnSpc>
                <a:spcPct val="120000"/>
              </a:lnSpc>
            </a:pPr>
            <a:r>
              <a:rPr lang="en-US" sz="1500" noProof="1" spc="200" kern="0">
                <a:solidFill>
                  <a:srgbClr val="6B7683"/>
                </a:solidFill>
                <a:latin typeface="MiSans"/>
                <a:ea typeface="MiSans"/>
              </a:rPr>
              <a:t>PRÊT À DÉPENSER · MISSION CRÉDIT EXPRESS · MLOPS PARTIE 2</a:t>
            </a:r>
            <a:endParaRPr lang="en-US" sz="1500" noProof="1"/>
          </a:p>
        </p:txBody>
      </p:sp>
      <p:sp>
        <p:nvSpPr>
          <p:cNvPr id="4" name="title"/>
          <p:cNvSpPr txBox="1"/>
          <p:nvPr/>
        </p:nvSpPr>
        <p:spPr>
          <a:xfrm>
            <a:off x="711200" y="2222500"/>
            <a:ext cx="10414000" cy="1397000"/>
          </a:xfrm>
          <a:prstGeom prst="rect">
            <a:avLst/>
          </a:prstGeom>
          <a:noFill/>
          <a:ln>
            <a:noFill/>
          </a:ln>
        </p:spPr>
        <p:txBody>
          <a:bodyPr lIns="0" rIns="0" tIns="0" bIns="0" wrap="square" rtlCol="0"/>
          <a:lstStyle/>
          <a:p>
            <a:pPr>
              <a:lnSpc>
                <a:spcPct val="120000"/>
              </a:lnSpc>
            </a:pPr>
            <a:r>
              <a:rPr lang="en-US" sz="4000" noProof="1" b="1">
                <a:solidFill>
                  <a:srgbClr val="16324F"/>
                </a:solidFill>
                <a:latin typeface="MiSans"/>
                <a:ea typeface="MiSans"/>
              </a:rPr>
              <a:t>Mise en production d'un modèle</a:t>
            </a:r>
            <a:endParaRPr lang="en-US" sz="4000" noProof="1"/>
          </a:p>
          <a:p>
            <a:pPr>
              <a:lnSpc>
                <a:spcPct val="120000"/>
              </a:lnSpc>
            </a:pPr>
            <a:r>
              <a:rPr lang="en-US" sz="4000" noProof="1" b="1">
                <a:solidFill>
                  <a:srgbClr val="16324F"/>
                </a:solidFill>
                <a:latin typeface="MiSans"/>
                <a:ea typeface="MiSans"/>
              </a:rPr>
              <a:t>de scoring crédit</a:t>
            </a:r>
            <a:endParaRPr lang="en-US" sz="4000" noProof="1"/>
          </a:p>
        </p:txBody>
      </p:sp>
      <p:sp>
        <p:nvSpPr>
          <p:cNvPr id="5" name="subtitle"/>
          <p:cNvSpPr txBox="1"/>
          <p:nvPr/>
        </p:nvSpPr>
        <p:spPr>
          <a:xfrm>
            <a:off x="711200" y="3746500"/>
            <a:ext cx="9906000" cy="660400"/>
          </a:xfrm>
          <a:prstGeom prst="rect">
            <a:avLst/>
          </a:prstGeom>
          <a:noFill/>
          <a:ln>
            <a:noFill/>
          </a:ln>
        </p:spPr>
        <p:txBody>
          <a:bodyPr lIns="0" rIns="0" tIns="0" bIns="0" wrap="square" rtlCol="0"/>
          <a:lstStyle/>
          <a:p>
            <a:pPr>
              <a:lnSpc>
                <a:spcPct val="150000"/>
              </a:lnSpc>
            </a:pPr>
            <a:r>
              <a:rPr lang="en-US" sz="1600" noProof="1">
                <a:solidFill>
                  <a:srgbClr val="33404D"/>
                </a:solidFill>
                <a:latin typeface="MiSans"/>
                <a:ea typeface="MiSans"/>
              </a:rPr>
              <a:t>API FastAPI conteneurisée (Docker), pipeline CI/CD, monitoring du data drift</a:t>
            </a:r>
            <a:endParaRPr lang="en-US" sz="1600" noProof="1"/>
          </a:p>
          <a:p>
            <a:pPr>
              <a:lnSpc>
                <a:spcPct val="150000"/>
              </a:lnSpc>
            </a:pPr>
            <a:r>
              <a:rPr lang="en-US" sz="1600" noProof="1">
                <a:solidFill>
                  <a:srgbClr val="33404D"/>
                </a:solidFill>
                <a:latin typeface="MiSans"/>
                <a:ea typeface="MiSans"/>
              </a:rPr>
              <a:t>et optimisation d'inférence ONNX — du modèle MLflow au service « Docker Ready ».</a:t>
            </a:r>
            <a:endParaRPr lang="en-US" sz="1600" noProof="1"/>
          </a:p>
        </p:txBody>
      </p:sp>
      <p:sp>
        <p:nvSpPr>
          <p:cNvPr id="6" name="sep"/>
          <p:cNvSpPr/>
          <p:nvPr/>
        </p:nvSpPr>
        <p:spPr>
          <a:xfrm>
            <a:off x="711200" y="5080000"/>
            <a:ext cx="10769600" cy="12700"/>
          </a:xfrm>
          <a:prstGeom prst="rect">
            <a:avLst/>
          </a:prstGeom>
          <a:solidFill>
            <a:srgbClr val="D8DEE4"/>
          </a:solidFill>
          <a:ln>
            <a:noFill/>
          </a:ln>
        </p:spPr>
      </p:sp>
      <p:sp>
        <p:nvSpPr>
          <p:cNvPr id="7" name="meta"/>
          <p:cNvSpPr txBox="1"/>
          <p:nvPr/>
        </p:nvSpPr>
        <p:spPr>
          <a:xfrm>
            <a:off x="711200" y="5308600"/>
            <a:ext cx="10769600" cy="762000"/>
          </a:xfrm>
          <a:prstGeom prst="rect">
            <a:avLst/>
          </a:prstGeom>
          <a:noFill/>
          <a:ln>
            <a:noFill/>
          </a:ln>
        </p:spPr>
        <p:txBody>
          <a:bodyPr lIns="0" rIns="0" tIns="0" bIns="0" wrap="square" rtlCol="0"/>
          <a:lstStyle/>
          <a:p>
            <a:pPr>
              <a:lnSpc>
                <a:spcPct val="145000"/>
              </a:lnSpc>
            </a:pPr>
            <a:r>
              <a:rPr lang="en-US" sz="1400" noProof="1" b="1">
                <a:solidFill>
                  <a:srgbClr val="33404D"/>
                </a:solidFill>
                <a:latin typeface="MiSans"/>
                <a:ea typeface="MiSans"/>
              </a:rPr>
              <a:t>Thomas Thouvenin</a:t>
            </a:r>
            <a:r>
              <a:rPr lang="en-US" sz="1400" noProof="1">
                <a:solidFill>
                  <a:srgbClr val="33404D"/>
                </a:solidFill>
                <a:latin typeface="MiSans"/>
                <a:ea typeface="MiSans"/>
              </a:rPr>
              <a:t> — Data Scientist · Soutenance OpenClassrooms, septembre 2026</a:t>
            </a:r>
            <a:endParaRPr lang="en-US" sz="1400" noProof="1"/>
          </a:p>
          <a:p>
            <a:pPr>
              <a:lnSpc>
                <a:spcPct val="145000"/>
              </a:lnSpc>
              <a:spcBef>
                <a:spcPts val="600"/>
              </a:spcBef>
            </a:pPr>
            <a:r>
              <a:rPr lang="en-US" sz="1200" noProof="1">
                <a:solidFill>
                  <a:srgbClr val="6B7683"/>
                </a:solidFill>
                <a:latin typeface="MiSans"/>
                <a:ea typeface="MiSans"/>
              </a:rPr>
              <a:t>Évaluateur : Chloé Dubois, Lead Data Scientist · Dépôt : github.com/Mrsaltyx/pret-a-depenser-scoring-mlops</a:t>
            </a:r>
            <a:endParaRPr lang="en-US" sz="1400" noProof="1"/>
          </a:p>
        </p:txBody>
      </p:sp>
      <p:sp>
        <p:nvSpPr>
          <p:cNvPr id="8" name="corner"/>
          <p:cNvSpPr/>
          <p:nvPr/>
        </p:nvSpPr>
        <p:spPr>
          <a:xfrm>
            <a:off x="10414000" y="1524000"/>
            <a:ext cx="1066800" cy="1066800"/>
          </a:xfrm>
          <a:prstGeom prst="rect">
            <a:avLst/>
          </a:prstGeom>
          <a:solidFill>
            <a:srgbClr val="F4F6F8"/>
          </a:solidFill>
          <a:ln>
            <a:noFill/>
          </a:ln>
        </p:spPr>
      </p:sp>
      <p:sp>
        <p:nvSpPr>
          <p:cNvPr id="9" name="corner-icon"/>
          <p:cNvSpPr/>
          <p:nvPr>
            <p:extLst>
              <p:ext uri="{F5677B7D-0D2A-4D9B-9A5C-6D8D7D0E5A5D}">
                <pptd:icon encoding="base64url">eyJpY29uTmFtZSI6ImZhczpzZXJ2ZXIifQ</pptd:icon>
              </p:ext>
            </p:extLst>
          </p:nvPr>
        </p:nvSpPr>
        <p:spPr>
          <a:xfrm>
            <a:off x="10718800" y="1828800"/>
            <a:ext cx="457200" cy="457200"/>
          </a:xfrm>
          <a:custGeom>
            <a:avLst/>
            <a:gdLst/>
            <a:ahLst/>
            <a:cxnLst/>
            <a:rect l="l" t="t" r="r" b="b"/>
            <a:pathLst>
              <a:path w="448" h="512">
                <a:moveTo>
                  <a:pt x="64" y="32"/>
                </a:moveTo>
                <a:cubicBezTo>
                  <a:pt x="29" y="32"/>
                  <a:pt x="0" y="61"/>
                  <a:pt x="0" y="96"/>
                </a:cubicBezTo>
                <a:lnTo>
                  <a:pt x="0" y="160"/>
                </a:lnTo>
                <a:cubicBezTo>
                  <a:pt x="0" y="195"/>
                  <a:pt x="29" y="224"/>
                  <a:pt x="64" y="224"/>
                </a:cubicBezTo>
                <a:lnTo>
                  <a:pt x="384" y="224"/>
                </a:lnTo>
                <a:cubicBezTo>
                  <a:pt x="419" y="224"/>
                  <a:pt x="448" y="195"/>
                  <a:pt x="448" y="160"/>
                </a:cubicBezTo>
                <a:lnTo>
                  <a:pt x="448" y="96"/>
                </a:lnTo>
                <a:cubicBezTo>
                  <a:pt x="448" y="61"/>
                  <a:pt x="419" y="32"/>
                  <a:pt x="384" y="32"/>
                </a:cubicBezTo>
                <a:lnTo>
                  <a:pt x="64" y="32"/>
                </a:lnTo>
                <a:close/>
                <a:moveTo>
                  <a:pt x="280" y="104"/>
                </a:moveTo>
                <a:cubicBezTo>
                  <a:pt x="293" y="104"/>
                  <a:pt x="304" y="115"/>
                  <a:pt x="304" y="128"/>
                </a:cubicBezTo>
                <a:cubicBezTo>
                  <a:pt x="304" y="141"/>
                  <a:pt x="293" y="152"/>
                  <a:pt x="280" y="152"/>
                </a:cubicBezTo>
                <a:cubicBezTo>
                  <a:pt x="267" y="152"/>
                  <a:pt x="256" y="141"/>
                  <a:pt x="256" y="128"/>
                </a:cubicBezTo>
                <a:cubicBezTo>
                  <a:pt x="256" y="115"/>
                  <a:pt x="267" y="104"/>
                  <a:pt x="280" y="104"/>
                </a:cubicBezTo>
                <a:close/>
                <a:moveTo>
                  <a:pt x="336" y="128"/>
                </a:moveTo>
                <a:cubicBezTo>
                  <a:pt x="336" y="115"/>
                  <a:pt x="347" y="104"/>
                  <a:pt x="360" y="104"/>
                </a:cubicBezTo>
                <a:cubicBezTo>
                  <a:pt x="373" y="104"/>
                  <a:pt x="384" y="115"/>
                  <a:pt x="384" y="128"/>
                </a:cubicBezTo>
                <a:cubicBezTo>
                  <a:pt x="384" y="141"/>
                  <a:pt x="373" y="152"/>
                  <a:pt x="360" y="152"/>
                </a:cubicBezTo>
                <a:cubicBezTo>
                  <a:pt x="347" y="152"/>
                  <a:pt x="336" y="141"/>
                  <a:pt x="336" y="128"/>
                </a:cubicBezTo>
                <a:close/>
              </a:path>
              <a:path w="448" h="512">
                <a:moveTo>
                  <a:pt x="64" y="288"/>
                </a:moveTo>
                <a:cubicBezTo>
                  <a:pt x="29" y="288"/>
                  <a:pt x="0" y="317"/>
                  <a:pt x="0" y="352"/>
                </a:cubicBezTo>
                <a:lnTo>
                  <a:pt x="0" y="416"/>
                </a:lnTo>
                <a:cubicBezTo>
                  <a:pt x="0" y="451"/>
                  <a:pt x="29" y="480"/>
                  <a:pt x="64" y="480"/>
                </a:cubicBezTo>
                <a:lnTo>
                  <a:pt x="384" y="480"/>
                </a:lnTo>
                <a:cubicBezTo>
                  <a:pt x="419" y="480"/>
                  <a:pt x="448" y="451"/>
                  <a:pt x="448" y="416"/>
                </a:cubicBezTo>
                <a:lnTo>
                  <a:pt x="448" y="352"/>
                </a:lnTo>
                <a:cubicBezTo>
                  <a:pt x="448" y="317"/>
                  <a:pt x="419" y="288"/>
                  <a:pt x="384" y="288"/>
                </a:cubicBezTo>
                <a:lnTo>
                  <a:pt x="64" y="288"/>
                </a:lnTo>
                <a:close/>
                <a:moveTo>
                  <a:pt x="280" y="360"/>
                </a:moveTo>
                <a:cubicBezTo>
                  <a:pt x="293" y="360"/>
                  <a:pt x="304" y="371"/>
                  <a:pt x="304" y="384"/>
                </a:cubicBezTo>
                <a:cubicBezTo>
                  <a:pt x="304" y="397"/>
                  <a:pt x="293" y="408"/>
                  <a:pt x="280" y="408"/>
                </a:cubicBezTo>
                <a:cubicBezTo>
                  <a:pt x="267" y="408"/>
                  <a:pt x="256" y="397"/>
                  <a:pt x="256" y="384"/>
                </a:cubicBezTo>
                <a:cubicBezTo>
                  <a:pt x="256" y="371"/>
                  <a:pt x="267" y="360"/>
                  <a:pt x="280" y="360"/>
                </a:cubicBezTo>
                <a:close/>
                <a:moveTo>
                  <a:pt x="336" y="384"/>
                </a:moveTo>
                <a:cubicBezTo>
                  <a:pt x="336" y="371"/>
                  <a:pt x="347" y="360"/>
                  <a:pt x="360" y="360"/>
                </a:cubicBezTo>
                <a:cubicBezTo>
                  <a:pt x="373" y="360"/>
                  <a:pt x="384" y="371"/>
                  <a:pt x="384" y="384"/>
                </a:cubicBezTo>
                <a:cubicBezTo>
                  <a:pt x="384" y="397"/>
                  <a:pt x="373" y="408"/>
                  <a:pt x="360" y="408"/>
                </a:cubicBezTo>
                <a:cubicBezTo>
                  <a:pt x="347" y="408"/>
                  <a:pt x="336" y="397"/>
                  <a:pt x="336" y="384"/>
                </a:cubicBezTo>
                <a:close/>
              </a:path>
            </a:pathLst>
          </a:custGeom>
          <a:solidFill>
            <a:srgbClr val="16324F"/>
          </a:solidFill>
          <a:ln>
            <a:noFill/>
          </a:ln>
        </p:spPr>
      </p:sp>
    </p:spTree>
  </p:cSld>
  <p:clrMapOvr>
    <a:masterClrMapping/>
  </p:clrMapOvr>
</p:sld>
</file>

<file path=ppt/slides/slide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Contexte : du modèle versionné au service exploitable en quasi temps réel</a:t>
            </a:r>
            <a:endParaRPr lang="en-US" sz="2600" noProof="1"/>
          </a:p>
        </p:txBody>
      </p:sp>
      <p:sp>
        <p:nvSpPr>
          <p:cNvPr id="4" name="quote-mark"/>
          <p:cNvSpPr/>
          <p:nvPr>
            <p:extLst>
              <p:ext uri="{F5677B7D-0D2A-4D9B-9A5C-6D8D7D0E5A5D}">
                <pptd:icon encoding="base64url">eyJpY29uTmFtZSI6ImZhczpxdW90ZS1sZWZ0In0</pptd:icon>
              </p:ext>
            </p:extLst>
          </p:nvPr>
        </p:nvSpPr>
        <p:spPr>
          <a:xfrm>
            <a:off x="711200" y="1625600"/>
            <a:ext cx="330200" cy="330200"/>
          </a:xfrm>
          <a:custGeom>
            <a:avLst/>
            <a:gdLst/>
            <a:ahLst/>
            <a:cxnLst/>
            <a:rect l="l" t="t" r="r" b="b"/>
            <a:pathLst>
              <a:path w="448" h="512">
                <a:moveTo>
                  <a:pt x="0" y="216"/>
                </a:moveTo>
                <a:cubicBezTo>
                  <a:pt x="0" y="150"/>
                  <a:pt x="54" y="96"/>
                  <a:pt x="120" y="96"/>
                </a:cubicBezTo>
                <a:lnTo>
                  <a:pt x="128" y="96"/>
                </a:lnTo>
                <a:cubicBezTo>
                  <a:pt x="146" y="96"/>
                  <a:pt x="160" y="110"/>
                  <a:pt x="160" y="128"/>
                </a:cubicBezTo>
                <a:cubicBezTo>
                  <a:pt x="160" y="146"/>
                  <a:pt x="146" y="160"/>
                  <a:pt x="128" y="160"/>
                </a:cubicBezTo>
                <a:lnTo>
                  <a:pt x="120" y="160"/>
                </a:lnTo>
                <a:cubicBezTo>
                  <a:pt x="89" y="160"/>
                  <a:pt x="64" y="185"/>
                  <a:pt x="64" y="216"/>
                </a:cubicBezTo>
                <a:lnTo>
                  <a:pt x="64" y="224"/>
                </a:lnTo>
                <a:lnTo>
                  <a:pt x="128" y="224"/>
                </a:lnTo>
                <a:cubicBezTo>
                  <a:pt x="163" y="224"/>
                  <a:pt x="192" y="253"/>
                  <a:pt x="192" y="288"/>
                </a:cubicBezTo>
                <a:lnTo>
                  <a:pt x="192" y="352"/>
                </a:lnTo>
                <a:cubicBezTo>
                  <a:pt x="192" y="387"/>
                  <a:pt x="163" y="416"/>
                  <a:pt x="128" y="416"/>
                </a:cubicBezTo>
                <a:lnTo>
                  <a:pt x="64" y="416"/>
                </a:lnTo>
                <a:cubicBezTo>
                  <a:pt x="29" y="416"/>
                  <a:pt x="0" y="387"/>
                  <a:pt x="0" y="352"/>
                </a:cubicBezTo>
                <a:lnTo>
                  <a:pt x="0" y="216"/>
                </a:lnTo>
                <a:close/>
                <a:moveTo>
                  <a:pt x="256" y="216"/>
                </a:moveTo>
                <a:cubicBezTo>
                  <a:pt x="256" y="150"/>
                  <a:pt x="310" y="96"/>
                  <a:pt x="376" y="96"/>
                </a:cubicBezTo>
                <a:lnTo>
                  <a:pt x="384" y="96"/>
                </a:lnTo>
                <a:cubicBezTo>
                  <a:pt x="402" y="96"/>
                  <a:pt x="416" y="110"/>
                  <a:pt x="416" y="128"/>
                </a:cubicBezTo>
                <a:cubicBezTo>
                  <a:pt x="416" y="146"/>
                  <a:pt x="402" y="160"/>
                  <a:pt x="384" y="160"/>
                </a:cubicBezTo>
                <a:lnTo>
                  <a:pt x="376" y="160"/>
                </a:lnTo>
                <a:cubicBezTo>
                  <a:pt x="345" y="160"/>
                  <a:pt x="320" y="185"/>
                  <a:pt x="320" y="216"/>
                </a:cubicBezTo>
                <a:lnTo>
                  <a:pt x="320" y="224"/>
                </a:lnTo>
                <a:lnTo>
                  <a:pt x="384" y="224"/>
                </a:lnTo>
                <a:cubicBezTo>
                  <a:pt x="419" y="224"/>
                  <a:pt x="448" y="253"/>
                  <a:pt x="448" y="288"/>
                </a:cubicBezTo>
                <a:lnTo>
                  <a:pt x="448" y="352"/>
                </a:lnTo>
                <a:cubicBezTo>
                  <a:pt x="448" y="387"/>
                  <a:pt x="419" y="416"/>
                  <a:pt x="384" y="416"/>
                </a:cubicBezTo>
                <a:lnTo>
                  <a:pt x="320" y="416"/>
                </a:lnTo>
                <a:cubicBezTo>
                  <a:pt x="285" y="416"/>
                  <a:pt x="256" y="387"/>
                  <a:pt x="256" y="352"/>
                </a:cubicBezTo>
                <a:lnTo>
                  <a:pt x="256" y="216"/>
                </a:lnTo>
                <a:close/>
              </a:path>
            </a:pathLst>
          </a:custGeom>
          <a:solidFill>
            <a:srgbClr val="C96A1B"/>
          </a:solidFill>
          <a:ln>
            <a:noFill/>
          </a:ln>
        </p:spPr>
      </p:sp>
      <p:sp>
        <p:nvSpPr>
          <p:cNvPr id="5" name="quote"/>
          <p:cNvSpPr txBox="1"/>
          <p:nvPr/>
        </p:nvSpPr>
        <p:spPr>
          <a:xfrm>
            <a:off x="1219200" y="1600200"/>
            <a:ext cx="5080000" cy="2006600"/>
          </a:xfrm>
          <a:prstGeom prst="rect">
            <a:avLst/>
          </a:prstGeom>
          <a:noFill/>
          <a:ln>
            <a:noFill/>
          </a:ln>
        </p:spPr>
        <p:txBody>
          <a:bodyPr lIns="0" rIns="0" tIns="0" bIns="0" wrap="square" rtlCol="0"/>
          <a:lstStyle/>
          <a:p>
            <a:pPr>
              <a:lnSpc>
                <a:spcPct val="150000"/>
              </a:lnSpc>
            </a:pPr>
            <a:r>
              <a:rPr lang="en-US" sz="1300" noProof="1" i="1">
                <a:solidFill>
                  <a:srgbClr val="33404D"/>
                </a:solidFill>
                <a:latin typeface="MiSans"/>
                <a:ea typeface="MiSans"/>
              </a:rPr>
              <a:t>« Excellents résultats sur la dernière version du modèle ! Le département Crédit Express est très impatient de l'utiliser pour traiter les nouvelles demandes en quasi temps réel. Il nous faut une API fonctionnelle et déployable (Docker Ready)… et un suivi pour vérifier que tout se passe bien en prod. »</a:t>
            </a:r>
            <a:endParaRPr lang="en-US" sz="1300" noProof="1"/>
          </a:p>
          <a:p>
            <a:pPr>
              <a:lnSpc>
                <a:spcPct val="150000"/>
              </a:lnSpc>
              <a:spcBef>
                <a:spcPts val="800"/>
              </a:spcBef>
            </a:pPr>
            <a:r>
              <a:rPr lang="en-US" sz="1100" noProof="1" i="1">
                <a:solidFill>
                  <a:srgbClr val="6B7683"/>
                </a:solidFill>
                <a:latin typeface="MiSans"/>
                <a:ea typeface="MiSans"/>
              </a:rPr>
              <a:t>— Chloé Dubois, Lead Data Scientist</a:t>
            </a:r>
            <a:endParaRPr lang="en-US" sz="1300" noProof="1"/>
          </a:p>
        </p:txBody>
      </p:sp>
      <p:sp>
        <p:nvSpPr>
          <p:cNvPr id="6" name="mission-label"/>
          <p:cNvSpPr txBox="1"/>
          <p:nvPr/>
        </p:nvSpPr>
        <p:spPr>
          <a:xfrm>
            <a:off x="1219200" y="3810000"/>
            <a:ext cx="5080000" cy="2794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Point de départ</a:t>
            </a:r>
            <a:endParaRPr lang="en-US" sz="1200" noProof="1"/>
          </a:p>
        </p:txBody>
      </p:sp>
      <p:sp>
        <p:nvSpPr>
          <p:cNvPr id="7" name="mission"/>
          <p:cNvSpPr txBox="1"/>
          <p:nvPr/>
        </p:nvSpPr>
        <p:spPr>
          <a:xfrm>
            <a:off x="1219200" y="4114800"/>
            <a:ext cx="5080000" cy="2032000"/>
          </a:xfrm>
          <a:prstGeom prst="rect">
            <a:avLst/>
          </a:prstGeom>
          <a:noFill/>
          <a:ln>
            <a:noFill/>
          </a:ln>
        </p:spPr>
        <p:txBody>
          <a:bodyPr lIns="0" rIns="0" tIns="0" bIns="0" wrap="square" rtlCol="0"/>
          <a:lstStyle/>
          <a:p>
            <a:pPr>
              <a:lnSpc>
                <a:spcPct val="145000"/>
              </a:lnSpc>
            </a:pPr>
            <a:r>
              <a:rPr lang="en-US" sz="1300" noProof="1">
                <a:solidFill>
                  <a:srgbClr val="33404D"/>
                </a:solidFill>
                <a:latin typeface="MiSans"/>
                <a:ea typeface="MiSans"/>
              </a:rPr>
              <a:t>• Modèle LightGBM développé, évalué et </a:t>
            </a:r>
            <a:r>
              <a:rPr lang="en-US" sz="1300" noProof="1" b="1">
                <a:solidFill>
                  <a:srgbClr val="33404D"/>
                </a:solidFill>
                <a:latin typeface="MiSans"/>
                <a:ea typeface="MiSans"/>
              </a:rPr>
              <a:t>versionné sous MLflow</a:t>
            </a:r>
            <a:r>
              <a:rPr lang="en-US" sz="1300" noProof="1">
                <a:solidFill>
                  <a:srgbClr val="33404D"/>
                </a:solidFill>
                <a:latin typeface="MiSans"/>
                <a:ea typeface="MiSans"/>
              </a:rPr>
              <a:t> lors de la partie 1 (registry : </a:t>
            </a:r>
            <a:r>
              <a:rPr lang="en-US" sz="1300" noProof="1">
                <a:solidFill>
                  <a:srgbClr val="33404D"/>
                </a:solidFill>
                <a:latin typeface="JetBrains Mono"/>
                <a:ea typeface="JetBrains Mono"/>
              </a:rPr>
              <a:t>credit_scoring_pret_a_depenser</a:t>
            </a:r>
            <a:r>
              <a:rPr lang="en-US" sz="1300" noProof="1">
                <a:solidFill>
                  <a:srgbClr val="33404D"/>
                </a:solidFill>
                <a:latin typeface="MiSans"/>
                <a:ea typeface="MiSans"/>
              </a:rPr>
              <a:t> v1)</a:t>
            </a:r>
            <a:endParaRPr lang="en-US" sz="1300" noProof="1"/>
          </a:p>
          <a:p>
            <a:pPr>
              <a:lnSpc>
                <a:spcPct val="145000"/>
              </a:lnSpc>
              <a:spcBef>
                <a:spcPts val="800"/>
              </a:spcBef>
            </a:pPr>
            <a:r>
              <a:rPr lang="en-US" sz="1300" noProof="1">
                <a:solidFill>
                  <a:srgbClr val="33404D"/>
                </a:solidFill>
                <a:latin typeface="MiSans"/>
                <a:ea typeface="MiSans"/>
              </a:rPr>
              <a:t>• Seuil de décision métier optimisé : </a:t>
            </a:r>
            <a:r>
              <a:rPr lang="en-US" sz="1300" noProof="1" b="1">
                <a:solidFill>
                  <a:srgbClr val="33404D"/>
                </a:solidFill>
                <a:latin typeface="MiSans"/>
                <a:ea typeface="MiSans"/>
              </a:rPr>
              <a:t>0,45</a:t>
            </a:r>
            <a:r>
              <a:rPr lang="en-US" sz="1300" noProof="1">
                <a:solidFill>
                  <a:srgbClr val="33404D"/>
                </a:solidFill>
                <a:latin typeface="MiSans"/>
                <a:ea typeface="MiSans"/>
              </a:rPr>
              <a:t> (un faux négatif coûte 10 × un faux positif)</a:t>
            </a:r>
            <a:endParaRPr lang="en-US" sz="1300" noProof="1"/>
          </a:p>
          <a:p>
            <a:pPr>
              <a:lnSpc>
                <a:spcPct val="145000"/>
              </a:lnSpc>
              <a:spcBef>
                <a:spcPts val="800"/>
              </a:spcBef>
            </a:pPr>
            <a:r>
              <a:rPr lang="en-US" sz="1300" noProof="1">
                <a:solidFill>
                  <a:srgbClr val="33404D"/>
                </a:solidFill>
                <a:latin typeface="MiSans"/>
                <a:ea typeface="MiSans"/>
              </a:rPr>
              <a:t>• Cible : </a:t>
            </a:r>
            <a:r>
              <a:rPr lang="en-US" sz="1300" noProof="1" b="1">
                <a:solidFill>
                  <a:srgbClr val="33404D"/>
                </a:solidFill>
                <a:latin typeface="MiSans"/>
                <a:ea typeface="MiSans"/>
              </a:rPr>
              <a:t>8,07 %</a:t>
            </a:r>
            <a:r>
              <a:rPr lang="en-US" sz="1300" noProof="1">
                <a:solidFill>
                  <a:srgbClr val="33404D"/>
                </a:solidFill>
                <a:latin typeface="MiSans"/>
                <a:ea typeface="MiSans"/>
              </a:rPr>
              <a:t> de défauts — classes déséquilibrées</a:t>
            </a:r>
            <a:endParaRPr lang="en-US" sz="1300" noProof="1"/>
          </a:p>
        </p:txBody>
      </p:sp>
      <p:sp>
        <p:nvSpPr>
          <p:cNvPr id="8" name="right-head"/>
          <p:cNvSpPr txBox="1"/>
          <p:nvPr/>
        </p:nvSpPr>
        <p:spPr>
          <a:xfrm>
            <a:off x="7112000" y="1600200"/>
            <a:ext cx="4368800" cy="2794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La mission en 4 objectifs</a:t>
            </a:r>
            <a:endParaRPr lang="en-US" sz="1200" noProof="1"/>
          </a:p>
        </p:txBody>
      </p:sp>
      <p:sp>
        <p:nvSpPr>
          <p:cNvPr id="9" name="obj1-icon"/>
          <p:cNvSpPr/>
          <p:nvPr>
            <p:extLst>
              <p:ext uri="{F5677B7D-0D2A-4D9B-9A5C-6D8D7D0E5A5D}">
                <pptd:icon encoding="base64url">eyJpY29uTmFtZSI6ImZhczpwbHVnIn0</pptd:icon>
              </p:ext>
            </p:extLst>
          </p:nvPr>
        </p:nvSpPr>
        <p:spPr>
          <a:xfrm>
            <a:off x="7112000" y="2032000"/>
            <a:ext cx="254000" cy="254000"/>
          </a:xfrm>
          <a:custGeom>
            <a:avLst/>
            <a:gdLst/>
            <a:ahLst/>
            <a:cxnLst/>
            <a:rect l="l" t="t" r="r" b="b"/>
            <a:pathLst>
              <a:path w="448" h="512">
                <a:moveTo>
                  <a:pt x="128" y="-32"/>
                </a:moveTo>
                <a:cubicBezTo>
                  <a:pt x="146" y="-32"/>
                  <a:pt x="160" y="-18"/>
                  <a:pt x="160" y="0"/>
                </a:cubicBezTo>
                <a:lnTo>
                  <a:pt x="160" y="96"/>
                </a:lnTo>
                <a:lnTo>
                  <a:pt x="288" y="96"/>
                </a:lnTo>
                <a:lnTo>
                  <a:pt x="288" y="0"/>
                </a:lnTo>
                <a:cubicBezTo>
                  <a:pt x="288" y="-18"/>
                  <a:pt x="302" y="-32"/>
                  <a:pt x="320" y="-32"/>
                </a:cubicBezTo>
                <a:cubicBezTo>
                  <a:pt x="338" y="-32"/>
                  <a:pt x="352" y="-18"/>
                  <a:pt x="352" y="0"/>
                </a:cubicBezTo>
                <a:lnTo>
                  <a:pt x="352" y="96"/>
                </a:lnTo>
                <a:lnTo>
                  <a:pt x="416" y="96"/>
                </a:lnTo>
                <a:cubicBezTo>
                  <a:pt x="434" y="96"/>
                  <a:pt x="448" y="110"/>
                  <a:pt x="448" y="128"/>
                </a:cubicBezTo>
                <a:cubicBezTo>
                  <a:pt x="448" y="146"/>
                  <a:pt x="434" y="160"/>
                  <a:pt x="416" y="160"/>
                </a:cubicBezTo>
                <a:lnTo>
                  <a:pt x="416" y="224"/>
                </a:lnTo>
                <a:cubicBezTo>
                  <a:pt x="416" y="319"/>
                  <a:pt x="347" y="398"/>
                  <a:pt x="256" y="413"/>
                </a:cubicBezTo>
                <a:lnTo>
                  <a:pt x="256" y="480"/>
                </a:lnTo>
                <a:cubicBezTo>
                  <a:pt x="256" y="498"/>
                  <a:pt x="242" y="512"/>
                  <a:pt x="224" y="512"/>
                </a:cubicBezTo>
                <a:cubicBezTo>
                  <a:pt x="206" y="512"/>
                  <a:pt x="192" y="498"/>
                  <a:pt x="192" y="480"/>
                </a:cubicBezTo>
                <a:lnTo>
                  <a:pt x="192" y="413"/>
                </a:lnTo>
                <a:cubicBezTo>
                  <a:pt x="101" y="398"/>
                  <a:pt x="32" y="319"/>
                  <a:pt x="32" y="224"/>
                </a:cubicBezTo>
                <a:lnTo>
                  <a:pt x="32" y="160"/>
                </a:lnTo>
                <a:cubicBezTo>
                  <a:pt x="14" y="160"/>
                  <a:pt x="0" y="146"/>
                  <a:pt x="0" y="128"/>
                </a:cubicBezTo>
                <a:cubicBezTo>
                  <a:pt x="0" y="110"/>
                  <a:pt x="14" y="96"/>
                  <a:pt x="32" y="96"/>
                </a:cubicBezTo>
                <a:lnTo>
                  <a:pt x="96" y="96"/>
                </a:lnTo>
                <a:lnTo>
                  <a:pt x="96" y="0"/>
                </a:lnTo>
                <a:cubicBezTo>
                  <a:pt x="96" y="-18"/>
                  <a:pt x="110" y="-32"/>
                  <a:pt x="128" y="-32"/>
                </a:cubicBezTo>
                <a:close/>
              </a:path>
            </a:pathLst>
          </a:custGeom>
          <a:solidFill>
            <a:srgbClr val="C96A1B"/>
          </a:solidFill>
          <a:ln>
            <a:noFill/>
          </a:ln>
        </p:spPr>
      </p:sp>
      <p:sp>
        <p:nvSpPr>
          <p:cNvPr id="10" name="obj1"/>
          <p:cNvSpPr txBox="1"/>
          <p:nvPr/>
        </p:nvSpPr>
        <p:spPr>
          <a:xfrm>
            <a:off x="7543800" y="1981200"/>
            <a:ext cx="3937000" cy="838200"/>
          </a:xfrm>
          <a:prstGeom prst="rect">
            <a:avLst/>
          </a:prstGeom>
          <a:noFill/>
          <a:ln>
            <a:noFill/>
          </a:ln>
        </p:spPr>
        <p:txBody>
          <a:bodyPr lIns="0" rIns="0" tIns="0" bIns="0" wrap="square" rtlCol="0"/>
          <a:lstStyle/>
          <a:p>
            <a:pPr>
              <a:lnSpc>
                <a:spcPct val="145000"/>
              </a:lnSpc>
            </a:pPr>
            <a:r>
              <a:rPr lang="en-US" sz="1300" noProof="1" b="1">
                <a:solidFill>
                  <a:srgbClr val="33404D"/>
                </a:solidFill>
                <a:latin typeface="MiSans"/>
                <a:ea typeface="MiSans"/>
              </a:rPr>
              <a:t>Exposer</a:t>
            </a:r>
            <a:r>
              <a:rPr lang="en-US" sz="1300" noProof="1">
                <a:solidFill>
                  <a:srgbClr val="33404D"/>
                </a:solidFill>
                <a:latin typeface="MiSans"/>
                <a:ea typeface="MiSans"/>
              </a:rPr>
              <a:t> le modèle via une API robuste</a:t>
            </a:r>
            <a:endParaRPr lang="en-US" sz="1300" noProof="1"/>
          </a:p>
          <a:p>
            <a:pPr>
              <a:lnSpc>
                <a:spcPct val="145000"/>
              </a:lnSpc>
              <a:spcBef>
                <a:spcPts val="200"/>
              </a:spcBef>
            </a:pPr>
            <a:r>
              <a:rPr lang="en-US" sz="1150" noProof="1">
                <a:solidFill>
                  <a:srgbClr val="6B7683"/>
                </a:solidFill>
                <a:latin typeface="MiSans"/>
                <a:ea typeface="MiSans"/>
              </a:rPr>
              <a:t>FastAPI · validation Pydantic · gestion d'erreurs · Swagger</a:t>
            </a:r>
            <a:endParaRPr lang="en-US" sz="1300" noProof="1"/>
          </a:p>
        </p:txBody>
      </p:sp>
      <p:sp>
        <p:nvSpPr>
          <p:cNvPr id="11" name="obj2-icon"/>
          <p:cNvSpPr/>
          <p:nvPr>
            <p:extLst>
              <p:ext uri="{F5677B7D-0D2A-4D9B-9A5C-6D8D7D0E5A5D}">
                <pptd:icon encoding="base64url">eyJpY29uTmFtZSI6ImZhczpib3gifQ</pptd:icon>
              </p:ext>
            </p:extLst>
          </p:nvPr>
        </p:nvSpPr>
        <p:spPr>
          <a:xfrm>
            <a:off x="7112000" y="2997200"/>
            <a:ext cx="254000" cy="254000"/>
          </a:xfrm>
          <a:custGeom>
            <a:avLst/>
            <a:gdLst/>
            <a:ahLst/>
            <a:cxnLst/>
            <a:rect l="l" t="t" r="r" b="b"/>
            <a:pathLst>
              <a:path w="448" h="512">
                <a:moveTo>
                  <a:pt x="369" y="128"/>
                </a:moveTo>
                <a:lnTo>
                  <a:pt x="335" y="80"/>
                </a:lnTo>
                <a:lnTo>
                  <a:pt x="113" y="80"/>
                </a:lnTo>
                <a:lnTo>
                  <a:pt x="79" y="128"/>
                </a:lnTo>
                <a:lnTo>
                  <a:pt x="369" y="128"/>
                </a:lnTo>
                <a:close/>
                <a:moveTo>
                  <a:pt x="0" y="149"/>
                </a:moveTo>
                <a:cubicBezTo>
                  <a:pt x="0" y="135"/>
                  <a:pt x="4" y="122"/>
                  <a:pt x="12" y="111"/>
                </a:cubicBezTo>
                <a:lnTo>
                  <a:pt x="61" y="43"/>
                </a:lnTo>
                <a:cubicBezTo>
                  <a:pt x="73" y="26"/>
                  <a:pt x="92" y="16"/>
                  <a:pt x="113" y="16"/>
                </a:cubicBezTo>
                <a:lnTo>
                  <a:pt x="335" y="16"/>
                </a:lnTo>
                <a:cubicBezTo>
                  <a:pt x="356" y="16"/>
                  <a:pt x="375" y="26"/>
                  <a:pt x="387" y="43"/>
                </a:cubicBezTo>
                <a:lnTo>
                  <a:pt x="436" y="111"/>
                </a:lnTo>
                <a:cubicBezTo>
                  <a:pt x="444" y="122"/>
                  <a:pt x="448" y="135"/>
                  <a:pt x="448" y="149"/>
                </a:cubicBezTo>
                <a:lnTo>
                  <a:pt x="448" y="416"/>
                </a:lnTo>
                <a:cubicBezTo>
                  <a:pt x="448" y="451"/>
                  <a:pt x="419" y="480"/>
                  <a:pt x="384" y="480"/>
                </a:cubicBezTo>
                <a:lnTo>
                  <a:pt x="64" y="480"/>
                </a:lnTo>
                <a:cubicBezTo>
                  <a:pt x="29" y="480"/>
                  <a:pt x="0" y="451"/>
                  <a:pt x="0" y="416"/>
                </a:cubicBezTo>
                <a:lnTo>
                  <a:pt x="0" y="149"/>
                </a:lnTo>
                <a:close/>
              </a:path>
            </a:pathLst>
          </a:custGeom>
          <a:solidFill>
            <a:srgbClr val="C96A1B"/>
          </a:solidFill>
          <a:ln>
            <a:noFill/>
          </a:ln>
        </p:spPr>
      </p:sp>
      <p:sp>
        <p:nvSpPr>
          <p:cNvPr id="12" name="obj2"/>
          <p:cNvSpPr txBox="1"/>
          <p:nvPr/>
        </p:nvSpPr>
        <p:spPr>
          <a:xfrm>
            <a:off x="7543800" y="2946400"/>
            <a:ext cx="3937000" cy="838200"/>
          </a:xfrm>
          <a:prstGeom prst="rect">
            <a:avLst/>
          </a:prstGeom>
          <a:noFill/>
          <a:ln>
            <a:noFill/>
          </a:ln>
        </p:spPr>
        <p:txBody>
          <a:bodyPr lIns="0" rIns="0" tIns="0" bIns="0" wrap="square" rtlCol="0"/>
          <a:lstStyle/>
          <a:p>
            <a:pPr>
              <a:lnSpc>
                <a:spcPct val="145000"/>
              </a:lnSpc>
            </a:pPr>
            <a:r>
              <a:rPr lang="en-US" sz="1300" noProof="1" b="1">
                <a:solidFill>
                  <a:srgbClr val="33404D"/>
                </a:solidFill>
                <a:latin typeface="MiSans"/>
                <a:ea typeface="MiSans"/>
              </a:rPr>
              <a:t>Industrialiser</a:t>
            </a:r>
            <a:r>
              <a:rPr lang="en-US" sz="1300" noProof="1">
                <a:solidFill>
                  <a:srgbClr val="33404D"/>
                </a:solidFill>
                <a:latin typeface="MiSans"/>
                <a:ea typeface="MiSans"/>
              </a:rPr>
              <a:t> : Docker + CI/CD + tests</a:t>
            </a:r>
            <a:endParaRPr lang="en-US" sz="1300" noProof="1"/>
          </a:p>
          <a:p>
            <a:pPr>
              <a:lnSpc>
                <a:spcPct val="145000"/>
              </a:lnSpc>
              <a:spcBef>
                <a:spcPts val="200"/>
              </a:spcBef>
            </a:pPr>
            <a:r>
              <a:rPr lang="en-US" sz="1150" noProof="1">
                <a:solidFill>
                  <a:srgbClr val="6B7683"/>
                </a:solidFill>
                <a:latin typeface="MiSans"/>
                <a:ea typeface="MiSans"/>
              </a:rPr>
              <a:t>Dockerfile · GitHub Actions · 21 tests pytest</a:t>
            </a:r>
            <a:endParaRPr lang="en-US" sz="1300" noProof="1"/>
          </a:p>
        </p:txBody>
      </p:sp>
      <p:sp>
        <p:nvSpPr>
          <p:cNvPr id="13" name="obj3-icon"/>
          <p:cNvSpPr/>
          <p:nvPr>
            <p:extLst>
              <p:ext uri="{F5677B7D-0D2A-4D9B-9A5C-6D8D7D0E5A5D}">
                <pptd:icon encoding="base64url">eyJpY29uTmFtZSI6ImZhczpjaGFydC1saW5lIn0</pptd:icon>
              </p:ext>
            </p:extLst>
          </p:nvPr>
        </p:nvSpPr>
        <p:spPr>
          <a:xfrm>
            <a:off x="7112000" y="3962400"/>
            <a:ext cx="254000" cy="254000"/>
          </a:xfrm>
          <a:custGeom>
            <a:avLst/>
            <a:gdLst/>
            <a:ahLst/>
            <a:cxnLst/>
            <a:rect l="l" t="t" r="r" b="b"/>
            <a:pathLst>
              <a:path w="512" h="512">
                <a:moveTo>
                  <a:pt x="64" y="64"/>
                </a:moveTo>
                <a:cubicBezTo>
                  <a:pt x="64" y="46"/>
                  <a:pt x="50" y="32"/>
                  <a:pt x="32" y="32"/>
                </a:cubicBezTo>
                <a:cubicBezTo>
                  <a:pt x="14" y="32"/>
                  <a:pt x="0" y="46"/>
                  <a:pt x="0" y="64"/>
                </a:cubicBezTo>
                <a:lnTo>
                  <a:pt x="0" y="400"/>
                </a:lnTo>
                <a:cubicBezTo>
                  <a:pt x="0" y="444"/>
                  <a:pt x="36" y="480"/>
                  <a:pt x="80" y="480"/>
                </a:cubicBezTo>
                <a:lnTo>
                  <a:pt x="480" y="480"/>
                </a:lnTo>
                <a:cubicBezTo>
                  <a:pt x="498" y="480"/>
                  <a:pt x="512" y="466"/>
                  <a:pt x="512" y="448"/>
                </a:cubicBezTo>
                <a:cubicBezTo>
                  <a:pt x="512" y="430"/>
                  <a:pt x="498" y="416"/>
                  <a:pt x="480" y="416"/>
                </a:cubicBezTo>
                <a:lnTo>
                  <a:pt x="80" y="416"/>
                </a:lnTo>
                <a:cubicBezTo>
                  <a:pt x="71" y="416"/>
                  <a:pt x="64" y="409"/>
                  <a:pt x="64" y="400"/>
                </a:cubicBezTo>
                <a:lnTo>
                  <a:pt x="64" y="64"/>
                </a:lnTo>
                <a:close/>
                <a:moveTo>
                  <a:pt x="471" y="151"/>
                </a:moveTo>
                <a:cubicBezTo>
                  <a:pt x="483" y="138"/>
                  <a:pt x="483" y="118"/>
                  <a:pt x="471" y="105"/>
                </a:cubicBezTo>
                <a:cubicBezTo>
                  <a:pt x="458" y="93"/>
                  <a:pt x="438" y="93"/>
                  <a:pt x="425" y="105"/>
                </a:cubicBezTo>
                <a:lnTo>
                  <a:pt x="320" y="211"/>
                </a:lnTo>
                <a:lnTo>
                  <a:pt x="263" y="153"/>
                </a:lnTo>
                <a:cubicBezTo>
                  <a:pt x="250" y="141"/>
                  <a:pt x="230" y="141"/>
                  <a:pt x="217" y="153"/>
                </a:cubicBezTo>
                <a:lnTo>
                  <a:pt x="121" y="249"/>
                </a:lnTo>
                <a:cubicBezTo>
                  <a:pt x="109" y="262"/>
                  <a:pt x="109" y="282"/>
                  <a:pt x="121" y="295"/>
                </a:cubicBezTo>
                <a:cubicBezTo>
                  <a:pt x="134" y="307"/>
                  <a:pt x="154" y="307"/>
                  <a:pt x="167" y="295"/>
                </a:cubicBezTo>
                <a:lnTo>
                  <a:pt x="240" y="221"/>
                </a:lnTo>
                <a:lnTo>
                  <a:pt x="297" y="279"/>
                </a:lnTo>
                <a:cubicBezTo>
                  <a:pt x="310" y="291"/>
                  <a:pt x="330" y="291"/>
                  <a:pt x="343" y="279"/>
                </a:cubicBezTo>
                <a:lnTo>
                  <a:pt x="471" y="151"/>
                </a:lnTo>
                <a:close/>
              </a:path>
            </a:pathLst>
          </a:custGeom>
          <a:solidFill>
            <a:srgbClr val="C96A1B"/>
          </a:solidFill>
          <a:ln>
            <a:noFill/>
          </a:ln>
        </p:spPr>
      </p:sp>
      <p:sp>
        <p:nvSpPr>
          <p:cNvPr id="14" name="obj3"/>
          <p:cNvSpPr txBox="1"/>
          <p:nvPr/>
        </p:nvSpPr>
        <p:spPr>
          <a:xfrm>
            <a:off x="7543800" y="3911600"/>
            <a:ext cx="3937000" cy="838200"/>
          </a:xfrm>
          <a:prstGeom prst="rect">
            <a:avLst/>
          </a:prstGeom>
          <a:noFill/>
          <a:ln>
            <a:noFill/>
          </a:ln>
        </p:spPr>
        <p:txBody>
          <a:bodyPr lIns="0" rIns="0" tIns="0" bIns="0" wrap="square" rtlCol="0"/>
          <a:lstStyle/>
          <a:p>
            <a:pPr>
              <a:lnSpc>
                <a:spcPct val="145000"/>
              </a:lnSpc>
            </a:pPr>
            <a:r>
              <a:rPr lang="en-US" sz="1300" noProof="1" b="1">
                <a:solidFill>
                  <a:srgbClr val="33404D"/>
                </a:solidFill>
                <a:latin typeface="MiSans"/>
                <a:ea typeface="MiSans"/>
              </a:rPr>
              <a:t>Monitorer</a:t>
            </a:r>
            <a:r>
              <a:rPr lang="en-US" sz="1300" noProof="1">
                <a:solidFill>
                  <a:srgbClr val="33404D"/>
                </a:solidFill>
                <a:latin typeface="MiSans"/>
                <a:ea typeface="MiSans"/>
              </a:rPr>
              <a:t> la production et le data drift</a:t>
            </a:r>
            <a:endParaRPr lang="en-US" sz="1300" noProof="1"/>
          </a:p>
          <a:p>
            <a:pPr>
              <a:lnSpc>
                <a:spcPct val="145000"/>
              </a:lnSpc>
              <a:spcBef>
                <a:spcPts val="200"/>
              </a:spcBef>
            </a:pPr>
            <a:r>
              <a:rPr lang="en-US" sz="1150" noProof="1">
                <a:solidFill>
                  <a:srgbClr val="6B7683"/>
                </a:solidFill>
                <a:latin typeface="MiSans"/>
                <a:ea typeface="MiSans"/>
              </a:rPr>
              <a:t>Logs SQLite/JSONL · Evidently · dashboard Streamlit</a:t>
            </a:r>
            <a:endParaRPr lang="en-US" sz="1300" noProof="1"/>
          </a:p>
        </p:txBody>
      </p:sp>
      <p:sp>
        <p:nvSpPr>
          <p:cNvPr id="15" name="obj4-icon"/>
          <p:cNvSpPr/>
          <p:nvPr>
            <p:extLst>
              <p:ext uri="{F5677B7D-0D2A-4D9B-9A5C-6D8D7D0E5A5D}">
                <pptd:icon encoding="base64url">eyJpY29uTmFtZSI6ImZhczpnYXVnZS1oaWdoIn0</pptd:icon>
              </p:ext>
            </p:extLst>
          </p:nvPr>
        </p:nvSpPr>
        <p:spPr>
          <a:xfrm>
            <a:off x="7112000" y="4927600"/>
            <a:ext cx="254000" cy="254000"/>
          </a:xfrm>
          <a:custGeom>
            <a:avLst/>
            <a:gdLst/>
            <a:ahLst/>
            <a:cxnLst/>
            <a:rect l="l" t="t" r="r" b="b"/>
            <a:pathLst>
              <a:path w="512" h="512">
                <a:moveTo>
                  <a:pt x="0" y="256"/>
                </a:moveTo>
                <a:cubicBezTo>
                  <a:pt x="0" y="115"/>
                  <a:pt x="115" y="0"/>
                  <a:pt x="256" y="0"/>
                </a:cubicBezTo>
                <a:cubicBezTo>
                  <a:pt x="397" y="0"/>
                  <a:pt x="512" y="115"/>
                  <a:pt x="512" y="256"/>
                </a:cubicBezTo>
                <a:cubicBezTo>
                  <a:pt x="512" y="397"/>
                  <a:pt x="397" y="512"/>
                  <a:pt x="256" y="512"/>
                </a:cubicBezTo>
                <a:cubicBezTo>
                  <a:pt x="115" y="512"/>
                  <a:pt x="0" y="397"/>
                  <a:pt x="0" y="256"/>
                </a:cubicBezTo>
                <a:close/>
                <a:moveTo>
                  <a:pt x="288" y="96"/>
                </a:moveTo>
                <a:cubicBezTo>
                  <a:pt x="288" y="78"/>
                  <a:pt x="274" y="64"/>
                  <a:pt x="256" y="64"/>
                </a:cubicBezTo>
                <a:cubicBezTo>
                  <a:pt x="238" y="64"/>
                  <a:pt x="224" y="78"/>
                  <a:pt x="224" y="96"/>
                </a:cubicBezTo>
                <a:cubicBezTo>
                  <a:pt x="224" y="114"/>
                  <a:pt x="238" y="128"/>
                  <a:pt x="256" y="128"/>
                </a:cubicBezTo>
                <a:cubicBezTo>
                  <a:pt x="274" y="128"/>
                  <a:pt x="288" y="114"/>
                  <a:pt x="288" y="96"/>
                </a:cubicBezTo>
                <a:close/>
                <a:moveTo>
                  <a:pt x="256" y="416"/>
                </a:moveTo>
                <a:cubicBezTo>
                  <a:pt x="291" y="416"/>
                  <a:pt x="320" y="387"/>
                  <a:pt x="320" y="352"/>
                </a:cubicBezTo>
                <a:cubicBezTo>
                  <a:pt x="320" y="336"/>
                  <a:pt x="314" y="321"/>
                  <a:pt x="304" y="310"/>
                </a:cubicBezTo>
                <a:lnTo>
                  <a:pt x="374" y="171"/>
                </a:lnTo>
                <a:cubicBezTo>
                  <a:pt x="379" y="159"/>
                  <a:pt x="375" y="144"/>
                  <a:pt x="363" y="139"/>
                </a:cubicBezTo>
                <a:cubicBezTo>
                  <a:pt x="351" y="133"/>
                  <a:pt x="337" y="137"/>
                  <a:pt x="331" y="149"/>
                </a:cubicBezTo>
                <a:lnTo>
                  <a:pt x="261" y="288"/>
                </a:lnTo>
                <a:cubicBezTo>
                  <a:pt x="259" y="288"/>
                  <a:pt x="258" y="288"/>
                  <a:pt x="256" y="288"/>
                </a:cubicBezTo>
                <a:cubicBezTo>
                  <a:pt x="221" y="288"/>
                  <a:pt x="192" y="317"/>
                  <a:pt x="192" y="352"/>
                </a:cubicBezTo>
                <a:cubicBezTo>
                  <a:pt x="192" y="387"/>
                  <a:pt x="221" y="416"/>
                  <a:pt x="256" y="416"/>
                </a:cubicBezTo>
                <a:close/>
                <a:moveTo>
                  <a:pt x="176" y="144"/>
                </a:moveTo>
                <a:cubicBezTo>
                  <a:pt x="176" y="126"/>
                  <a:pt x="162" y="112"/>
                  <a:pt x="144" y="112"/>
                </a:cubicBezTo>
                <a:cubicBezTo>
                  <a:pt x="126" y="112"/>
                  <a:pt x="112" y="126"/>
                  <a:pt x="112" y="144"/>
                </a:cubicBezTo>
                <a:cubicBezTo>
                  <a:pt x="112" y="162"/>
                  <a:pt x="126" y="176"/>
                  <a:pt x="144" y="176"/>
                </a:cubicBezTo>
                <a:cubicBezTo>
                  <a:pt x="162" y="176"/>
                  <a:pt x="176" y="162"/>
                  <a:pt x="176" y="144"/>
                </a:cubicBezTo>
                <a:close/>
                <a:moveTo>
                  <a:pt x="96" y="288"/>
                </a:moveTo>
                <a:cubicBezTo>
                  <a:pt x="114" y="288"/>
                  <a:pt x="128" y="274"/>
                  <a:pt x="128" y="256"/>
                </a:cubicBezTo>
                <a:cubicBezTo>
                  <a:pt x="128" y="238"/>
                  <a:pt x="114" y="224"/>
                  <a:pt x="96" y="224"/>
                </a:cubicBezTo>
                <a:cubicBezTo>
                  <a:pt x="78" y="224"/>
                  <a:pt x="64" y="238"/>
                  <a:pt x="64" y="256"/>
                </a:cubicBezTo>
                <a:cubicBezTo>
                  <a:pt x="64" y="274"/>
                  <a:pt x="78" y="288"/>
                  <a:pt x="96" y="288"/>
                </a:cubicBezTo>
                <a:close/>
                <a:moveTo>
                  <a:pt x="448" y="256"/>
                </a:moveTo>
                <a:cubicBezTo>
                  <a:pt x="448" y="238"/>
                  <a:pt x="434" y="224"/>
                  <a:pt x="416" y="224"/>
                </a:cubicBezTo>
                <a:cubicBezTo>
                  <a:pt x="398" y="224"/>
                  <a:pt x="384" y="238"/>
                  <a:pt x="384" y="256"/>
                </a:cubicBezTo>
                <a:cubicBezTo>
                  <a:pt x="384" y="274"/>
                  <a:pt x="398" y="288"/>
                  <a:pt x="416" y="288"/>
                </a:cubicBezTo>
                <a:cubicBezTo>
                  <a:pt x="434" y="288"/>
                  <a:pt x="448" y="274"/>
                  <a:pt x="448" y="256"/>
                </a:cubicBezTo>
                <a:close/>
              </a:path>
            </a:pathLst>
          </a:custGeom>
          <a:solidFill>
            <a:srgbClr val="C96A1B"/>
          </a:solidFill>
          <a:ln>
            <a:noFill/>
          </a:ln>
        </p:spPr>
      </p:sp>
      <p:sp>
        <p:nvSpPr>
          <p:cNvPr id="16" name="obj4"/>
          <p:cNvSpPr txBox="1"/>
          <p:nvPr/>
        </p:nvSpPr>
        <p:spPr>
          <a:xfrm>
            <a:off x="7543800" y="4876800"/>
            <a:ext cx="3937000" cy="838200"/>
          </a:xfrm>
          <a:prstGeom prst="rect">
            <a:avLst/>
          </a:prstGeom>
          <a:noFill/>
          <a:ln>
            <a:noFill/>
          </a:ln>
        </p:spPr>
        <p:txBody>
          <a:bodyPr lIns="0" rIns="0" tIns="0" bIns="0" wrap="square" rtlCol="0"/>
          <a:lstStyle/>
          <a:p>
            <a:pPr>
              <a:lnSpc>
                <a:spcPct val="145000"/>
              </a:lnSpc>
            </a:pPr>
            <a:r>
              <a:rPr lang="en-US" sz="1300" noProof="1" b="1">
                <a:solidFill>
                  <a:srgbClr val="33404D"/>
                </a:solidFill>
                <a:latin typeface="MiSans"/>
                <a:ea typeface="MiSans"/>
              </a:rPr>
              <a:t>Optimiser</a:t>
            </a:r>
            <a:r>
              <a:rPr lang="en-US" sz="1300" noProof="1">
                <a:solidFill>
                  <a:srgbClr val="33404D"/>
                </a:solidFill>
                <a:latin typeface="MiSans"/>
                <a:ea typeface="MiSans"/>
              </a:rPr>
              <a:t> le temps d'inférence</a:t>
            </a:r>
            <a:endParaRPr lang="en-US" sz="1300" noProof="1"/>
          </a:p>
          <a:p>
            <a:pPr>
              <a:lnSpc>
                <a:spcPct val="145000"/>
              </a:lnSpc>
              <a:spcBef>
                <a:spcPts val="200"/>
              </a:spcBef>
            </a:pPr>
            <a:r>
              <a:rPr lang="en-US" sz="1150" noProof="1">
                <a:solidFill>
                  <a:srgbClr val="6B7683"/>
                </a:solidFill>
                <a:latin typeface="MiSans"/>
                <a:ea typeface="MiSans"/>
              </a:rPr>
              <a:t>Profiling cProfile · conversion ONNX · benchmarks</a:t>
            </a:r>
            <a:endParaRPr lang="en-US" sz="1300" noProof="1"/>
          </a:p>
        </p:txBody>
      </p:sp>
      <p:sp>
        <p:nvSpPr>
          <p:cNvPr id="17"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18"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02</a:t>
            </a:r>
            <a:endParaRPr lang="en-US" sz="1100" noProof="1"/>
          </a:p>
        </p:txBody>
      </p:sp>
    </p:spTree>
  </p:cSld>
  <p:clrMapOvr>
    <a:masterClrMapping/>
  </p:clrMapOvr>
</p:sld>
</file>

<file path=ppt/slides/slide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Le modèle déployé : LightGBM optimisé, décision au seuil métier 0,45</a:t>
            </a:r>
            <a:endParaRPr lang="en-US" sz="2600" noProof="1"/>
          </a:p>
        </p:txBody>
      </p:sp>
      <p:sp>
        <p:nvSpPr>
          <p:cNvPr id="4" name="kpi1-label"/>
          <p:cNvSpPr txBox="1"/>
          <p:nvPr/>
        </p:nvSpPr>
        <p:spPr>
          <a:xfrm>
            <a:off x="711200" y="1549400"/>
            <a:ext cx="254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AUC (holdout 20 %)</a:t>
            </a:r>
            <a:endParaRPr lang="en-US" sz="1100" noProof="1"/>
          </a:p>
        </p:txBody>
      </p:sp>
      <p:sp>
        <p:nvSpPr>
          <p:cNvPr id="5" name="kpi1"/>
          <p:cNvSpPr txBox="1"/>
          <p:nvPr/>
        </p:nvSpPr>
        <p:spPr>
          <a:xfrm>
            <a:off x="711200" y="1778000"/>
            <a:ext cx="2540000" cy="533400"/>
          </a:xfrm>
          <a:prstGeom prst="rect">
            <a:avLst/>
          </a:prstGeom>
          <a:noFill/>
          <a:ln>
            <a:noFill/>
          </a:ln>
        </p:spPr>
        <p:txBody>
          <a:bodyPr lIns="0" rIns="0" tIns="0" bIns="0" wrap="none" rtlCol="0"/>
          <a:lstStyle/>
          <a:p>
            <a:pPr>
              <a:lnSpc>
                <a:spcPct val="120000"/>
              </a:lnSpc>
            </a:pPr>
            <a:r>
              <a:rPr lang="en-US" sz="3000" noProof="1" b="1">
                <a:solidFill>
                  <a:srgbClr val="C96A1B"/>
                </a:solidFill>
                <a:latin typeface="MiSans"/>
                <a:ea typeface="MiSans"/>
              </a:rPr>
              <a:t>0,790</a:t>
            </a:r>
            <a:endParaRPr lang="en-US" sz="3000" noProof="1"/>
          </a:p>
        </p:txBody>
      </p:sp>
      <p:sp>
        <p:nvSpPr>
          <p:cNvPr id="6" name="kpi2-label"/>
          <p:cNvSpPr txBox="1"/>
          <p:nvPr/>
        </p:nvSpPr>
        <p:spPr>
          <a:xfrm>
            <a:off x="3251200" y="1549400"/>
            <a:ext cx="2794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Coût métier holdout (FN=10, FP=1)</a:t>
            </a:r>
            <a:endParaRPr lang="en-US" sz="1100" noProof="1"/>
          </a:p>
        </p:txBody>
      </p:sp>
      <p:sp>
        <p:nvSpPr>
          <p:cNvPr id="7" name="kpi2"/>
          <p:cNvSpPr txBox="1"/>
          <p:nvPr/>
        </p:nvSpPr>
        <p:spPr>
          <a:xfrm>
            <a:off x="3251200" y="1778000"/>
            <a:ext cx="2794000" cy="533400"/>
          </a:xfrm>
          <a:prstGeom prst="rect">
            <a:avLst/>
          </a:prstGeom>
          <a:noFill/>
          <a:ln>
            <a:noFill/>
          </a:ln>
        </p:spPr>
        <p:txBody>
          <a:bodyPr lIns="0" rIns="0" tIns="0" bIns="0" wrap="none" rtlCol="0"/>
          <a:lstStyle/>
          <a:p>
            <a:pPr>
              <a:lnSpc>
                <a:spcPct val="120000"/>
              </a:lnSpc>
            </a:pPr>
            <a:r>
              <a:rPr lang="en-US" sz="3000" noProof="1" b="1">
                <a:solidFill>
                  <a:srgbClr val="C96A1B"/>
                </a:solidFill>
                <a:latin typeface="MiSans"/>
                <a:ea typeface="MiSans"/>
              </a:rPr>
              <a:t>29 591</a:t>
            </a:r>
            <a:endParaRPr lang="en-US" sz="3000" noProof="1"/>
          </a:p>
        </p:txBody>
      </p:sp>
      <p:sp>
        <p:nvSpPr>
          <p:cNvPr id="8" name="kpi3-label"/>
          <p:cNvSpPr txBox="1"/>
          <p:nvPr/>
        </p:nvSpPr>
        <p:spPr>
          <a:xfrm>
            <a:off x="6172200" y="1549400"/>
            <a:ext cx="254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Seuil de décision (OOF 5-fold)</a:t>
            </a:r>
            <a:endParaRPr lang="en-US" sz="1100" noProof="1"/>
          </a:p>
        </p:txBody>
      </p:sp>
      <p:sp>
        <p:nvSpPr>
          <p:cNvPr id="9" name="kpi3"/>
          <p:cNvSpPr txBox="1"/>
          <p:nvPr/>
        </p:nvSpPr>
        <p:spPr>
          <a:xfrm>
            <a:off x="6172200" y="1778000"/>
            <a:ext cx="2540000" cy="533400"/>
          </a:xfrm>
          <a:prstGeom prst="rect">
            <a:avLst/>
          </a:prstGeom>
          <a:noFill/>
          <a:ln>
            <a:noFill/>
          </a:ln>
        </p:spPr>
        <p:txBody>
          <a:bodyPr lIns="0" rIns="0" tIns="0" bIns="0" wrap="none" rtlCol="0"/>
          <a:lstStyle/>
          <a:p>
            <a:pPr>
              <a:lnSpc>
                <a:spcPct val="120000"/>
              </a:lnSpc>
            </a:pPr>
            <a:r>
              <a:rPr lang="en-US" sz="3000" noProof="1" b="1">
                <a:solidFill>
                  <a:srgbClr val="C96A1B"/>
                </a:solidFill>
                <a:latin typeface="MiSans"/>
                <a:ea typeface="MiSans"/>
              </a:rPr>
              <a:t>0,45</a:t>
            </a:r>
            <a:endParaRPr lang="en-US" sz="3000" noProof="1"/>
          </a:p>
        </p:txBody>
      </p:sp>
      <p:sp>
        <p:nvSpPr>
          <p:cNvPr id="10" name="facts"/>
          <p:cNvSpPr txBox="1"/>
          <p:nvPr/>
        </p:nvSpPr>
        <p:spPr>
          <a:xfrm>
            <a:off x="711200" y="2540000"/>
            <a:ext cx="7874000" cy="1905000"/>
          </a:xfrm>
          <a:prstGeom prst="rect">
            <a:avLst/>
          </a:prstGeom>
          <a:noFill/>
          <a:ln>
            <a:noFill/>
          </a:ln>
        </p:spPr>
        <p:txBody>
          <a:bodyPr lIns="0" rIns="0" tIns="0" bIns="0" wrap="square" rtlCol="0"/>
          <a:lstStyle/>
          <a:p>
            <a:pPr>
              <a:lnSpc>
                <a:spcPct val="145000"/>
              </a:lnSpc>
            </a:pPr>
            <a:r>
              <a:rPr lang="en-US" sz="1300" noProof="1">
                <a:solidFill>
                  <a:srgbClr val="33404D"/>
                </a:solidFill>
                <a:latin typeface="MiSans"/>
                <a:ea typeface="MiSans"/>
              </a:rPr>
              <a:t>• </a:t>
            </a:r>
            <a:r>
              <a:rPr lang="en-US" sz="1300" noProof="1" b="1">
                <a:solidFill>
                  <a:srgbClr val="33404D"/>
                </a:solidFill>
                <a:latin typeface="MiSans"/>
                <a:ea typeface="MiSans"/>
              </a:rPr>
              <a:t>LightGBM optimisé par Optuna</a:t>
            </a:r>
            <a:r>
              <a:rPr lang="en-US" sz="1300" noProof="1">
                <a:solidFill>
                  <a:srgbClr val="33404D"/>
                </a:solidFill>
                <a:latin typeface="MiSans"/>
                <a:ea typeface="MiSans"/>
              </a:rPr>
              <a:t> (objectif = coût métier en CV) : 800 estimateurs, learning_rate 0,017, scale_pos_weight 11,4</a:t>
            </a:r>
            <a:endParaRPr lang="en-US" sz="1300" noProof="1"/>
          </a:p>
          <a:p>
            <a:pPr>
              <a:lnSpc>
                <a:spcPct val="145000"/>
              </a:lnSpc>
              <a:spcBef>
                <a:spcPts val="800"/>
              </a:spcBef>
            </a:pPr>
            <a:r>
              <a:rPr lang="en-US" sz="1300" noProof="1">
                <a:solidFill>
                  <a:srgbClr val="33404D"/>
                </a:solidFill>
                <a:latin typeface="MiSans"/>
                <a:ea typeface="MiSans"/>
              </a:rPr>
              <a:t>• Comparaison partie 1 : Dummy 49 650 · Régression logistique 31 661 · RandomForest 34 063 · </a:t>
            </a:r>
            <a:r>
              <a:rPr lang="en-US" sz="1300" noProof="1" b="1">
                <a:solidFill>
                  <a:srgbClr val="33404D"/>
                </a:solidFill>
                <a:latin typeface="MiSans"/>
                <a:ea typeface="MiSans"/>
              </a:rPr>
              <a:t>LightGBM 29 591</a:t>
            </a:r>
            <a:r>
              <a:rPr lang="en-US" sz="1300" noProof="1">
                <a:solidFill>
                  <a:srgbClr val="33404D"/>
                </a:solidFill>
                <a:latin typeface="MiSans"/>
                <a:ea typeface="MiSans"/>
              </a:rPr>
              <a:t> (coût holdout)</a:t>
            </a:r>
            <a:endParaRPr lang="en-US" sz="1300" noProof="1"/>
          </a:p>
          <a:p>
            <a:pPr>
              <a:lnSpc>
                <a:spcPct val="145000"/>
              </a:lnSpc>
              <a:spcBef>
                <a:spcPts val="800"/>
              </a:spcBef>
            </a:pPr>
            <a:r>
              <a:rPr lang="en-US" sz="1300" noProof="1">
                <a:solidFill>
                  <a:srgbClr val="33404D"/>
                </a:solidFill>
                <a:latin typeface="MiSans"/>
                <a:ea typeface="MiSans"/>
              </a:rPr>
              <a:t>• </a:t>
            </a:r>
            <a:r>
              <a:rPr lang="en-US" sz="1300" noProof="1" b="1">
                <a:solidFill>
                  <a:srgbClr val="33404D"/>
                </a:solidFill>
                <a:latin typeface="MiSans"/>
                <a:ea typeface="MiSans"/>
              </a:rPr>
              <a:t>402 features</a:t>
            </a:r>
            <a:r>
              <a:rPr lang="en-US" sz="1300" noProof="1">
                <a:solidFill>
                  <a:srgbClr val="33404D"/>
                </a:solidFill>
                <a:latin typeface="MiSans"/>
                <a:ea typeface="MiSans"/>
              </a:rPr>
              <a:t> engineered (one-hot + agrégations bureau / POS / CB / échéances) — NaN structurels gérés nativement</a:t>
            </a:r>
            <a:endParaRPr lang="en-US" sz="1300" noProof="1"/>
          </a:p>
          <a:p>
            <a:pPr>
              <a:lnSpc>
                <a:spcPct val="145000"/>
              </a:lnSpc>
              <a:spcBef>
                <a:spcPts val="800"/>
              </a:spcBef>
            </a:pPr>
            <a:r>
              <a:rPr lang="en-US" sz="1300" noProof="1">
                <a:solidFill>
                  <a:srgbClr val="33404D"/>
                </a:solidFill>
                <a:latin typeface="MiSans"/>
                <a:ea typeface="MiSans"/>
              </a:rPr>
              <a:t>• Probabilité de défaut ≥ 0,45 → </a:t>
            </a:r>
            <a:r>
              <a:rPr lang="en-US" sz="1300" noProof="1" b="1">
                <a:solidFill>
                  <a:srgbClr val="33404D"/>
                </a:solidFill>
                <a:latin typeface="MiSans"/>
                <a:ea typeface="MiSans"/>
              </a:rPr>
              <a:t>refus</a:t>
            </a:r>
            <a:r>
              <a:rPr lang="en-US" sz="1300" noProof="1">
                <a:solidFill>
                  <a:srgbClr val="33404D"/>
                </a:solidFill>
                <a:latin typeface="MiSans"/>
                <a:ea typeface="MiSans"/>
              </a:rPr>
              <a:t>, sinon accord : le seuil est appliqué côté API, pas côté client</a:t>
            </a:r>
            <a:endParaRPr lang="en-US" sz="1300" noProof="1"/>
          </a:p>
        </p:txBody>
      </p:sp>
      <p:pic>
        <p:nvPicPr>
          <p:cNvPr id="11" name="roc-img"/>
          <p:cNvPicPr/>
          <p:nvPr/>
        </p:nvPicPr>
        <p:blipFill>
          <a:blip r:embed="rId2"/>
          <a:srcRect l="0" r="0"/>
          <a:stretch>
            <a:fillRect/>
          </a:stretch>
        </p:blipFill>
        <p:spPr>
          <a:xfrm>
            <a:off x="8890000" y="1498600"/>
            <a:ext cx="2590800" cy="2159000"/>
          </a:xfrm>
          <a:prstGeom prst="rect">
            <a:avLst/>
          </a:prstGeom>
          <a:ln>
            <a:noFill/>
          </a:ln>
        </p:spPr>
      </p:pic>
      <p:sp>
        <p:nvSpPr>
          <p:cNvPr id="12" name="roc-img-border"/>
          <p:cNvSpPr/>
          <p:nvPr/>
        </p:nvSpPr>
        <p:spPr>
          <a:xfrm>
            <a:off x="8890000" y="1498600"/>
            <a:ext cx="2590800" cy="2159000"/>
          </a:xfrm>
          <a:prstGeom prst="rect">
            <a:avLst/>
          </a:prstGeom>
          <a:noFill/>
          <a:ln w="12700">
            <a:solidFill>
              <a:srgbClr val="D8DEE4"/>
            </a:solidFill>
          </a:ln>
        </p:spPr>
      </p:sp>
      <p:sp>
        <p:nvSpPr>
          <p:cNvPr id="13" name="roc-cap"/>
          <p:cNvSpPr txBox="1"/>
          <p:nvPr/>
        </p:nvSpPr>
        <p:spPr>
          <a:xfrm>
            <a:off x="8890000" y="3708400"/>
            <a:ext cx="2590800" cy="381000"/>
          </a:xfrm>
          <a:prstGeom prst="rect">
            <a:avLst/>
          </a:prstGeom>
          <a:noFill/>
          <a:ln>
            <a:noFill/>
          </a:ln>
        </p:spPr>
        <p:txBody>
          <a:bodyPr lIns="0" rIns="0" tIns="0" bIns="0" wrap="square" rtlCol="0" anchor="t"/>
          <a:lstStyle/>
          <a:p>
            <a:pPr algn="ctr">
              <a:lnSpc>
                <a:spcPct val="135000"/>
              </a:lnSpc>
            </a:pPr>
            <a:r>
              <a:rPr lang="en-US" sz="1100" noProof="1">
                <a:solidFill>
                  <a:srgbClr val="6B7683"/>
                </a:solidFill>
                <a:latin typeface="MiSans"/>
                <a:ea typeface="MiSans"/>
              </a:rPr>
              <a:t>Courbe ROC — holdout (artefact partie 1)</a:t>
            </a:r>
            <a:endParaRPr lang="en-US" sz="1100" noProof="1"/>
          </a:p>
        </p:txBody>
      </p:sp>
      <p:sp>
        <p:nvSpPr>
          <p:cNvPr id="14" name="sep"/>
          <p:cNvSpPr/>
          <p:nvPr/>
        </p:nvSpPr>
        <p:spPr>
          <a:xfrm>
            <a:off x="711200" y="4673600"/>
            <a:ext cx="10769600" cy="12700"/>
          </a:xfrm>
          <a:prstGeom prst="rect">
            <a:avLst/>
          </a:prstGeom>
          <a:solidFill>
            <a:srgbClr val="D8DEE4"/>
          </a:solidFill>
          <a:ln>
            <a:noFill/>
          </a:ln>
        </p:spPr>
      </p:sp>
      <p:sp>
        <p:nvSpPr>
          <p:cNvPr id="15" name="chaine-label"/>
          <p:cNvSpPr txBox="1"/>
          <p:nvPr/>
        </p:nvSpPr>
        <p:spPr>
          <a:xfrm>
            <a:off x="711200" y="4876800"/>
            <a:ext cx="38100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Ce que la partie 2 ajoute autour du modèle</a:t>
            </a:r>
            <a:endParaRPr lang="en-US" sz="1200" noProof="1"/>
          </a:p>
        </p:txBody>
      </p:sp>
      <p:sp>
        <p:nvSpPr>
          <p:cNvPr id="16" name="chaine"/>
          <p:cNvSpPr txBox="1"/>
          <p:nvPr/>
        </p:nvSpPr>
        <p:spPr>
          <a:xfrm>
            <a:off x="711200" y="5181600"/>
            <a:ext cx="10769600" cy="889000"/>
          </a:xfrm>
          <a:prstGeom prst="rect">
            <a:avLst/>
          </a:prstGeom>
          <a:noFill/>
          <a:ln>
            <a:noFill/>
          </a:ln>
        </p:spPr>
        <p:txBody>
          <a:bodyPr lIns="0" rIns="0" tIns="0" bIns="0" wrap="square" rtlCol="0"/>
          <a:lstStyle/>
          <a:p>
            <a:pPr>
              <a:lnSpc>
                <a:spcPct val="145000"/>
              </a:lnSpc>
            </a:pPr>
            <a:r>
              <a:rPr lang="en-US" sz="1300" noProof="1">
                <a:solidFill>
                  <a:srgbClr val="33404D"/>
                </a:solidFill>
                <a:latin typeface="MiSans"/>
                <a:ea typeface="MiSans"/>
              </a:rPr>
              <a:t>Export du modèle (</a:t>
            </a:r>
            <a:r>
              <a:rPr lang="en-US" sz="1300" noProof="1">
                <a:solidFill>
                  <a:srgbClr val="33404D"/>
                </a:solidFill>
                <a:latin typeface="JetBrains Mono"/>
                <a:ea typeface="JetBrains Mono"/>
              </a:rPr>
              <a:t>models/model.skops</a:t>
            </a:r>
            <a:r>
              <a:rPr lang="en-US" sz="1300" noProof="1">
                <a:solidFill>
                  <a:srgbClr val="33404D"/>
                </a:solidFill>
                <a:latin typeface="MiSans"/>
                <a:ea typeface="MiSans"/>
              </a:rPr>
              <a:t> → puis </a:t>
            </a:r>
            <a:r>
              <a:rPr lang="en-US" sz="1300" noProof="1">
                <a:solidFill>
                  <a:srgbClr val="33404D"/>
                </a:solidFill>
                <a:latin typeface="JetBrains Mono"/>
                <a:ea typeface="JetBrains Mono"/>
              </a:rPr>
              <a:t>model.onnx</a:t>
            </a:r>
            <a:r>
              <a:rPr lang="en-US" sz="1300" noProof="1">
                <a:solidFill>
                  <a:srgbClr val="33404D"/>
                </a:solidFill>
                <a:latin typeface="MiSans"/>
                <a:ea typeface="MiSans"/>
              </a:rPr>
              <a:t>) · API de scoring · tests automatisés · conteneurisation · pipeline CI/CD · stockage des appels · détection de dérive · optimisation d'inférence.</a:t>
            </a:r>
            <a:endParaRPr lang="en-US" sz="1300" noProof="1"/>
          </a:p>
          <a:p>
            <a:pPr>
              <a:lnSpc>
                <a:spcPct val="145000"/>
              </a:lnSpc>
              <a:spcBef>
                <a:spcPts val="800"/>
              </a:spcBef>
            </a:pPr>
            <a:r>
              <a:rPr lang="en-US" sz="1200" noProof="1">
                <a:solidFill>
                  <a:srgbClr val="6B7683"/>
                </a:solidFill>
                <a:latin typeface="MiSans"/>
                <a:ea typeface="MiSans"/>
              </a:rPr>
              <a:t>Le modèle lui-même n'est pas réentraîné : la partie 2 industrialise le modèle validé en partie 1.</a:t>
            </a:r>
            <a:endParaRPr lang="en-US" sz="1300" noProof="1"/>
          </a:p>
        </p:txBody>
      </p:sp>
      <p:sp>
        <p:nvSpPr>
          <p:cNvPr id="17"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18"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03</a:t>
            </a:r>
            <a:endParaRPr lang="en-US" sz="1100" noProof="1"/>
          </a:p>
        </p:txBody>
      </p:sp>
    </p:spTree>
  </p:cSld>
  <p:clrMapOvr>
    <a:masterClrMapping/>
  </p:clrMapOvr>
</p:sld>
</file>

<file path=ppt/slides/slide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Architecture de production : serving, stockage, monitoring, CI/CD</a:t>
            </a:r>
            <a:endParaRPr lang="en-US" sz="2600" noProof="1"/>
          </a:p>
        </p:txBody>
      </p:sp>
      <p:sp>
        <p:nvSpPr>
          <p:cNvPr id="4" name="cicd-box"/>
          <p:cNvSpPr/>
          <p:nvPr/>
        </p:nvSpPr>
        <p:spPr>
          <a:xfrm>
            <a:off x="7112000" y="1473200"/>
            <a:ext cx="4368800" cy="939800"/>
          </a:xfrm>
          <a:prstGeom prst="rect">
            <a:avLst/>
          </a:prstGeom>
          <a:solidFill>
            <a:srgbClr val="F4F6F8"/>
          </a:solidFill>
          <a:ln w="12700">
            <a:solidFill>
              <a:srgbClr val="D8DEE4"/>
            </a:solidFill>
          </a:ln>
        </p:spPr>
      </p:sp>
      <p:sp>
        <p:nvSpPr>
          <p:cNvPr id="5" name="cicd-label"/>
          <p:cNvSpPr txBox="1"/>
          <p:nvPr/>
        </p:nvSpPr>
        <p:spPr>
          <a:xfrm>
            <a:off x="7315200" y="1574800"/>
            <a:ext cx="4064000" cy="228600"/>
          </a:xfrm>
          <a:prstGeom prst="rect">
            <a:avLst/>
          </a:prstGeom>
          <a:noFill/>
          <a:ln>
            <a:noFill/>
          </a:ln>
        </p:spPr>
        <p:txBody>
          <a:bodyPr lIns="0" rIns="0" tIns="0" bIns="0" wrap="none" rtlCol="0"/>
          <a:lstStyle/>
          <a:p>
            <a:pPr>
              <a:lnSpc>
                <a:spcPct val="120000"/>
              </a:lnSpc>
            </a:pPr>
            <a:r>
              <a:rPr lang="en-US" sz="1100" noProof="1" b="1">
                <a:solidFill>
                  <a:srgbClr val="16324F"/>
                </a:solidFill>
                <a:latin typeface="MiSans"/>
                <a:ea typeface="MiSans"/>
              </a:rPr>
              <a:t>CI/CD — GitHub Actions (push sur main)</a:t>
            </a:r>
            <a:endParaRPr lang="en-US" sz="1100" noProof="1"/>
          </a:p>
        </p:txBody>
      </p:sp>
      <p:sp>
        <p:nvSpPr>
          <p:cNvPr id="6" name="cicd-text"/>
          <p:cNvSpPr txBox="1"/>
          <p:nvPr/>
        </p:nvSpPr>
        <p:spPr>
          <a:xfrm>
            <a:off x="7315200" y="1828800"/>
            <a:ext cx="4064000" cy="508000"/>
          </a:xfrm>
          <a:prstGeom prst="rect">
            <a:avLst/>
          </a:prstGeom>
          <a:noFill/>
          <a:ln>
            <a:noFill/>
          </a:ln>
        </p:spPr>
        <p:txBody>
          <a:bodyPr lIns="0" rIns="0" tIns="0" bIns="0" wrap="square" rtlCol="0"/>
          <a:lstStyle/>
          <a:p>
            <a:pPr>
              <a:lnSpc>
                <a:spcPct val="135000"/>
              </a:lnSpc>
            </a:pPr>
            <a:r>
              <a:rPr lang="en-US" sz="1150" noProof="1" b="1">
                <a:solidFill>
                  <a:srgbClr val="6B7683"/>
                </a:solidFill>
                <a:latin typeface="MiSans"/>
                <a:ea typeface="MiSans"/>
              </a:rPr>
              <a:t>test</a:t>
            </a:r>
            <a:r>
              <a:rPr lang="en-US" sz="1150" noProof="1">
                <a:solidFill>
                  <a:srgbClr val="6B7683"/>
                </a:solidFill>
                <a:latin typeface="MiSans"/>
                <a:ea typeface="MiSans"/>
              </a:rPr>
              <a:t> (pytest) → </a:t>
            </a:r>
            <a:r>
              <a:rPr lang="en-US" sz="1150" noProof="1" b="1">
                <a:solidFill>
                  <a:srgbClr val="6B7683"/>
                </a:solidFill>
                <a:latin typeface="MiSans"/>
                <a:ea typeface="MiSans"/>
              </a:rPr>
              <a:t>docker-build</a:t>
            </a:r>
            <a:r>
              <a:rPr lang="en-US" sz="1150" noProof="1">
                <a:solidFill>
                  <a:srgbClr val="6B7683"/>
                </a:solidFill>
                <a:latin typeface="MiSans"/>
                <a:ea typeface="MiSans"/>
              </a:rPr>
              <a:t> (image API) → </a:t>
            </a:r>
            <a:r>
              <a:rPr lang="en-US" sz="1150" noProof="1" b="1">
                <a:solidFill>
                  <a:srgbClr val="6B7683"/>
                </a:solidFill>
                <a:latin typeface="MiSans"/>
                <a:ea typeface="MiSans"/>
              </a:rPr>
              <a:t>deploy</a:t>
            </a:r>
            <a:r>
              <a:rPr lang="en-US" sz="1150" noProof="1">
                <a:solidFill>
                  <a:srgbClr val="6B7683"/>
                </a:solidFill>
                <a:latin typeface="MiSans"/>
                <a:ea typeface="MiSans"/>
              </a:rPr>
              <a:t> (conteneur + smoke tests /health, /predict)</a:t>
            </a:r>
            <a:endParaRPr lang="en-US" sz="1150" noProof="1"/>
          </a:p>
        </p:txBody>
      </p:sp>
      <p:sp>
        <p:nvSpPr>
          <p:cNvPr id="7" name="client-box"/>
          <p:cNvSpPr/>
          <p:nvPr/>
        </p:nvSpPr>
        <p:spPr>
          <a:xfrm>
            <a:off x="711200" y="3048000"/>
            <a:ext cx="1905000" cy="1066800"/>
          </a:xfrm>
          <a:prstGeom prst="rect">
            <a:avLst/>
          </a:prstGeom>
          <a:solidFill>
            <a:srgbClr val="FFFFFF"/>
          </a:solidFill>
          <a:ln w="19050">
            <a:solidFill>
              <a:srgbClr val="16324F"/>
            </a:solidFill>
          </a:ln>
        </p:spPr>
      </p:sp>
      <p:sp>
        <p:nvSpPr>
          <p:cNvPr id="8" name="client-txt"/>
          <p:cNvSpPr txBox="1"/>
          <p:nvPr/>
        </p:nvSpPr>
        <p:spPr>
          <a:xfrm>
            <a:off x="711200" y="3200400"/>
            <a:ext cx="1905000" cy="762000"/>
          </a:xfrm>
          <a:prstGeom prst="rect">
            <a:avLst/>
          </a:prstGeom>
          <a:noFill/>
          <a:ln>
            <a:noFill/>
          </a:ln>
        </p:spPr>
        <p:txBody>
          <a:bodyPr lIns="0" rIns="0" tIns="0" bIns="0" wrap="square" rtlCol="0" anchor="t"/>
          <a:lstStyle/>
          <a:p>
            <a:pPr algn="ctr">
              <a:lnSpc>
                <a:spcPct val="120000"/>
              </a:lnSpc>
            </a:pPr>
            <a:r>
              <a:rPr lang="en-US" sz="1200" noProof="1" b="1">
                <a:solidFill>
                  <a:srgbClr val="16324F"/>
                </a:solidFill>
                <a:latin typeface="MiSans"/>
                <a:ea typeface="MiSans"/>
              </a:rPr>
              <a:t>Crédit Express</a:t>
            </a:r>
            <a:endParaRPr lang="en-US" sz="1200" noProof="1"/>
          </a:p>
          <a:p>
            <a:pPr algn="ctr">
              <a:lnSpc>
                <a:spcPct val="120000"/>
              </a:lnSpc>
              <a:spcBef>
                <a:spcPts val="400"/>
              </a:spcBef>
            </a:pPr>
            <a:r>
              <a:rPr lang="en-US" sz="1050" noProof="1">
                <a:solidFill>
                  <a:srgbClr val="6B7683"/>
                </a:solidFill>
                <a:latin typeface="MiSans"/>
                <a:ea typeface="MiSans"/>
              </a:rPr>
              <a:t>demande client</a:t>
            </a:r>
            <a:endParaRPr lang="en-US" sz="1200" noProof="1"/>
          </a:p>
        </p:txBody>
      </p:sp>
      <p:sp>
        <p:nvSpPr>
          <p:cNvPr id="9" name="arrow1"/>
          <p:cNvSpPr/>
          <p:nvPr>
            <p:extLst>
              <p:ext uri="{F5677B7D-0D2A-4D9B-9A5C-6D8D7D0E5A5D}">
                <pptd:line encoding="base64url">eyJ2aWV3Qm94IjpbNjAsMjBdLCJwb2ludHMiOiIwLDEwIDYwLDEwIn0</pptd:line>
              </p:ext>
            </p:extLst>
          </p:nvPr>
        </p:nvSpPr>
        <p:spPr>
          <a:xfrm>
            <a:off x="2616200" y="3454400"/>
            <a:ext cx="762000" cy="254000"/>
          </a:xfrm>
          <a:custGeom>
            <a:avLst/>
            <a:gdLst/>
            <a:ahLst/>
            <a:cxnLst/>
            <a:rect l="l" t="t" r="r" b="b"/>
            <a:pathLst>
              <a:path w="60" h="20">
                <a:moveTo>
                  <a:pt x="0" y="10"/>
                </a:moveTo>
                <a:lnTo>
                  <a:pt x="60" y="10"/>
                </a:lnTo>
              </a:path>
            </a:pathLst>
          </a:custGeom>
          <a:noFill/>
          <a:ln w="25400" cap="rnd">
            <a:solidFill>
              <a:srgbClr val="C96A1B"/>
            </a:solidFill>
            <a:round/>
            <a:tailEnd type="arrow"/>
          </a:ln>
        </p:spPr>
      </p:sp>
      <p:sp>
        <p:nvSpPr>
          <p:cNvPr id="10" name="arrow1-lab"/>
          <p:cNvSpPr txBox="1"/>
          <p:nvPr/>
        </p:nvSpPr>
        <p:spPr>
          <a:xfrm>
            <a:off x="2489200" y="3124200"/>
            <a:ext cx="1016000" cy="203200"/>
          </a:xfrm>
          <a:prstGeom prst="rect">
            <a:avLst/>
          </a:prstGeom>
          <a:noFill/>
          <a:ln>
            <a:noFill/>
          </a:ln>
        </p:spPr>
        <p:txBody>
          <a:bodyPr lIns="0" rIns="0" tIns="0" bIns="0" wrap="none" rtlCol="0" anchor="t"/>
          <a:lstStyle/>
          <a:p>
            <a:pPr algn="ctr">
              <a:lnSpc>
                <a:spcPct val="135000"/>
              </a:lnSpc>
            </a:pPr>
            <a:r>
              <a:rPr lang="en-US" sz="1000" noProof="1">
                <a:solidFill>
                  <a:srgbClr val="6B7683"/>
                </a:solidFill>
                <a:latin typeface="MiSans"/>
                <a:ea typeface="MiSans"/>
              </a:rPr>
              <a:t>HTTP JSON</a:t>
            </a:r>
            <a:endParaRPr lang="en-US" sz="1000" noProof="1"/>
          </a:p>
        </p:txBody>
      </p:sp>
      <p:sp>
        <p:nvSpPr>
          <p:cNvPr id="11" name="api-box"/>
          <p:cNvSpPr/>
          <p:nvPr/>
        </p:nvSpPr>
        <p:spPr>
          <a:xfrm>
            <a:off x="3378200" y="2844800"/>
            <a:ext cx="2413000" cy="1473200"/>
          </a:xfrm>
          <a:prstGeom prst="rect">
            <a:avLst/>
          </a:prstGeom>
          <a:solidFill>
            <a:srgbClr val="16324F"/>
          </a:solidFill>
          <a:ln>
            <a:noFill/>
          </a:ln>
        </p:spPr>
      </p:sp>
      <p:sp>
        <p:nvSpPr>
          <p:cNvPr id="12" name="api-txt"/>
          <p:cNvSpPr txBox="1"/>
          <p:nvPr/>
        </p:nvSpPr>
        <p:spPr>
          <a:xfrm>
            <a:off x="3530600" y="2997200"/>
            <a:ext cx="2108200" cy="1193800"/>
          </a:xfrm>
          <a:prstGeom prst="rect">
            <a:avLst/>
          </a:prstGeom>
          <a:noFill/>
          <a:ln>
            <a:noFill/>
          </a:ln>
        </p:spPr>
        <p:txBody>
          <a:bodyPr lIns="0" rIns="0" tIns="0" bIns="0" wrap="square" rtlCol="0"/>
          <a:lstStyle/>
          <a:p>
            <a:pPr>
              <a:lnSpc>
                <a:spcPct val="120000"/>
              </a:lnSpc>
            </a:pPr>
            <a:r>
              <a:rPr lang="en-US" sz="1200" noProof="1" b="1">
                <a:solidFill>
                  <a:srgbClr val="FFFFFF"/>
                </a:solidFill>
                <a:latin typeface="MiSans"/>
                <a:ea typeface="MiSans"/>
              </a:rPr>
              <a:t>API FastAPI</a:t>
            </a:r>
            <a:endParaRPr lang="en-US" sz="1200" noProof="1"/>
          </a:p>
          <a:p>
            <a:pPr>
              <a:lnSpc>
                <a:spcPct val="120000"/>
              </a:lnSpc>
              <a:spcBef>
                <a:spcPts val="400"/>
              </a:spcBef>
            </a:pPr>
            <a:r>
              <a:rPr lang="en-US" sz="1050" noProof="1">
                <a:solidFill>
                  <a:srgbClr val="C8D2DC"/>
                </a:solidFill>
                <a:latin typeface="MiSans"/>
                <a:ea typeface="MiSans"/>
              </a:rPr>
              <a:t>validation Pydantic (422)</a:t>
            </a:r>
            <a:endParaRPr lang="en-US" sz="1200" noProof="1"/>
          </a:p>
          <a:p>
            <a:pPr>
              <a:lnSpc>
                <a:spcPct val="120000"/>
              </a:lnSpc>
            </a:pPr>
            <a:r>
              <a:rPr lang="en-US" sz="1050" noProof="1">
                <a:solidFill>
                  <a:srgbClr val="C8D2DC"/>
                </a:solidFill>
                <a:latin typeface="MiSans"/>
                <a:ea typeface="MiSans"/>
              </a:rPr>
              <a:t>modèle chargé 1× au démarrage</a:t>
            </a:r>
            <a:endParaRPr lang="en-US" sz="1200" noProof="1"/>
          </a:p>
          <a:p>
            <a:pPr>
              <a:lnSpc>
                <a:spcPct val="120000"/>
              </a:lnSpc>
            </a:pPr>
            <a:r>
              <a:rPr lang="en-US" sz="1050" noProof="1">
                <a:solidFill>
                  <a:srgbClr val="C8D2DC"/>
                </a:solidFill>
                <a:latin typeface="MiSans"/>
                <a:ea typeface="MiSans"/>
              </a:rPr>
              <a:t>/predict · /health · /info</a:t>
            </a:r>
            <a:endParaRPr lang="en-US" sz="1200" noProof="1"/>
          </a:p>
        </p:txBody>
      </p:sp>
      <p:sp>
        <p:nvSpPr>
          <p:cNvPr id="13" name="arrow2"/>
          <p:cNvSpPr/>
          <p:nvPr>
            <p:extLst>
              <p:ext uri="{F5677B7D-0D2A-4D9B-9A5C-6D8D7D0E5A5D}">
                <pptd:line encoding="base64url">eyJ2aWV3Qm94IjpbNjAsMjBdLCJwb2ludHMiOiIwLDEwIDYwLDEwIn0</pptd:line>
              </p:ext>
            </p:extLst>
          </p:nvPr>
        </p:nvSpPr>
        <p:spPr>
          <a:xfrm>
            <a:off x="5791200" y="3454400"/>
            <a:ext cx="762000" cy="254000"/>
          </a:xfrm>
          <a:custGeom>
            <a:avLst/>
            <a:gdLst/>
            <a:ahLst/>
            <a:cxnLst/>
            <a:rect l="l" t="t" r="r" b="b"/>
            <a:pathLst>
              <a:path w="60" h="20">
                <a:moveTo>
                  <a:pt x="0" y="10"/>
                </a:moveTo>
                <a:lnTo>
                  <a:pt x="60" y="10"/>
                </a:lnTo>
              </a:path>
            </a:pathLst>
          </a:custGeom>
          <a:noFill/>
          <a:ln w="25400" cap="rnd">
            <a:solidFill>
              <a:srgbClr val="C96A1B"/>
            </a:solidFill>
            <a:round/>
            <a:tailEnd type="arrow"/>
          </a:ln>
        </p:spPr>
      </p:sp>
      <p:sp>
        <p:nvSpPr>
          <p:cNvPr id="14" name="model-box"/>
          <p:cNvSpPr/>
          <p:nvPr/>
        </p:nvSpPr>
        <p:spPr>
          <a:xfrm>
            <a:off x="6553200" y="3048000"/>
            <a:ext cx="2286000" cy="1066800"/>
          </a:xfrm>
          <a:prstGeom prst="rect">
            <a:avLst/>
          </a:prstGeom>
          <a:solidFill>
            <a:srgbClr val="FFFFFF"/>
          </a:solidFill>
          <a:ln w="19050">
            <a:solidFill>
              <a:srgbClr val="C96A1B"/>
            </a:solidFill>
          </a:ln>
        </p:spPr>
      </p:sp>
      <p:sp>
        <p:nvSpPr>
          <p:cNvPr id="15" name="model-txt"/>
          <p:cNvSpPr txBox="1"/>
          <p:nvPr/>
        </p:nvSpPr>
        <p:spPr>
          <a:xfrm>
            <a:off x="6705600" y="3175000"/>
            <a:ext cx="1981200" cy="838200"/>
          </a:xfrm>
          <a:prstGeom prst="rect">
            <a:avLst/>
          </a:prstGeom>
          <a:noFill/>
          <a:ln>
            <a:noFill/>
          </a:ln>
        </p:spPr>
        <p:txBody>
          <a:bodyPr lIns="0" rIns="0" tIns="0" bIns="0" wrap="square" rtlCol="0"/>
          <a:lstStyle/>
          <a:p>
            <a:pPr>
              <a:lnSpc>
                <a:spcPct val="120000"/>
              </a:lnSpc>
            </a:pPr>
            <a:r>
              <a:rPr lang="en-US" sz="1200" noProof="1" b="1">
                <a:solidFill>
                  <a:srgbClr val="16324F"/>
                </a:solidFill>
                <a:latin typeface="MiSans"/>
                <a:ea typeface="MiSans"/>
              </a:rPr>
              <a:t>Moteur ONNX</a:t>
            </a:r>
            <a:endParaRPr lang="en-US" sz="1200" noProof="1"/>
          </a:p>
          <a:p>
            <a:pPr>
              <a:lnSpc>
                <a:spcPct val="120000"/>
              </a:lnSpc>
              <a:spcBef>
                <a:spcPts val="300"/>
              </a:spcBef>
            </a:pPr>
            <a:r>
              <a:rPr lang="en-US" sz="1050" noProof="1">
                <a:solidFill>
                  <a:srgbClr val="6B7683"/>
                </a:solidFill>
                <a:latin typeface="MiSans"/>
                <a:ea typeface="MiSans"/>
              </a:rPr>
              <a:t>model.onnx · float32 numpy</a:t>
            </a:r>
            <a:endParaRPr lang="en-US" sz="1200" noProof="1"/>
          </a:p>
          <a:p>
            <a:pPr>
              <a:lnSpc>
                <a:spcPct val="120000"/>
              </a:lnSpc>
            </a:pPr>
            <a:r>
              <a:rPr lang="en-US" sz="1050" noProof="1">
                <a:solidFill>
                  <a:srgbClr val="6B7683"/>
                </a:solidFill>
                <a:latin typeface="MiSans"/>
                <a:ea typeface="MiSans"/>
              </a:rPr>
              <a:t>repli : LightGBM (skops)</a:t>
            </a:r>
            <a:endParaRPr lang="en-US" sz="1200" noProof="1"/>
          </a:p>
        </p:txBody>
      </p:sp>
      <p:sp>
        <p:nvSpPr>
          <p:cNvPr id="16" name="resp-arrow"/>
          <p:cNvSpPr/>
          <p:nvPr>
            <p:extLst>
              <p:ext uri="{F5677B7D-0D2A-4D9B-9A5C-6D8D7D0E5A5D}">
                <pptd:line encoding="base64url">eyJ2aWV3Qm94IjpbNTYsMjBdLCJwb2ludHMiOiIwLDEwIDU2LDEwIn0</pptd:line>
              </p:ext>
            </p:extLst>
          </p:nvPr>
        </p:nvSpPr>
        <p:spPr>
          <a:xfrm>
            <a:off x="8839200" y="3454400"/>
            <a:ext cx="711200" cy="254000"/>
          </a:xfrm>
          <a:custGeom>
            <a:avLst/>
            <a:gdLst/>
            <a:ahLst/>
            <a:cxnLst/>
            <a:rect l="l" t="t" r="r" b="b"/>
            <a:pathLst>
              <a:path w="56" h="20">
                <a:moveTo>
                  <a:pt x="0" y="10"/>
                </a:moveTo>
                <a:lnTo>
                  <a:pt x="56" y="10"/>
                </a:lnTo>
              </a:path>
            </a:pathLst>
          </a:custGeom>
          <a:noFill/>
          <a:ln w="25400" cap="rnd">
            <a:solidFill>
              <a:srgbClr val="C96A1B"/>
            </a:solidFill>
            <a:round/>
            <a:tailEnd type="arrow"/>
          </a:ln>
        </p:spPr>
      </p:sp>
      <p:sp>
        <p:nvSpPr>
          <p:cNvPr id="17" name="resp-box"/>
          <p:cNvSpPr/>
          <p:nvPr/>
        </p:nvSpPr>
        <p:spPr>
          <a:xfrm>
            <a:off x="9550400" y="3048000"/>
            <a:ext cx="1930400" cy="1066800"/>
          </a:xfrm>
          <a:prstGeom prst="rect">
            <a:avLst/>
          </a:prstGeom>
          <a:solidFill>
            <a:srgbClr val="F4F6F8"/>
          </a:solidFill>
          <a:ln w="12700">
            <a:solidFill>
              <a:srgbClr val="D8DEE4"/>
            </a:solidFill>
          </a:ln>
        </p:spPr>
      </p:sp>
      <p:sp>
        <p:nvSpPr>
          <p:cNvPr id="18" name="resp-txt"/>
          <p:cNvSpPr txBox="1"/>
          <p:nvPr/>
        </p:nvSpPr>
        <p:spPr>
          <a:xfrm>
            <a:off x="9677400" y="3175000"/>
            <a:ext cx="1676400" cy="838200"/>
          </a:xfrm>
          <a:prstGeom prst="rect">
            <a:avLst/>
          </a:prstGeom>
          <a:noFill/>
          <a:ln>
            <a:noFill/>
          </a:ln>
        </p:spPr>
        <p:txBody>
          <a:bodyPr lIns="0" rIns="0" tIns="0" bIns="0" wrap="square" rtlCol="0"/>
          <a:lstStyle/>
          <a:p>
            <a:pPr>
              <a:lnSpc>
                <a:spcPct val="120000"/>
              </a:lnSpc>
            </a:pPr>
            <a:r>
              <a:rPr lang="en-US" sz="1150" noProof="1" b="1">
                <a:solidFill>
                  <a:srgbClr val="16324F"/>
                </a:solidFill>
                <a:latin typeface="MiSans"/>
                <a:ea typeface="MiSans"/>
              </a:rPr>
              <a:t>Réponse</a:t>
            </a:r>
            <a:endParaRPr lang="en-US" sz="1150" noProof="1"/>
          </a:p>
          <a:p>
            <a:pPr>
              <a:lnSpc>
                <a:spcPct val="120000"/>
              </a:lnSpc>
              <a:spcBef>
                <a:spcPts val="300"/>
              </a:spcBef>
            </a:pPr>
            <a:r>
              <a:rPr lang="en-US" sz="1050" noProof="1">
                <a:solidFill>
                  <a:srgbClr val="6B7683"/>
                </a:solidFill>
                <a:latin typeface="MiSans"/>
                <a:ea typeface="MiSans"/>
              </a:rPr>
              <a:t>score · décision (seuil 0,45) · latences</a:t>
            </a:r>
            <a:endParaRPr lang="en-US" sz="1150" noProof="1"/>
          </a:p>
        </p:txBody>
      </p:sp>
      <p:sp>
        <p:nvSpPr>
          <p:cNvPr id="19" name="log-arrow"/>
          <p:cNvSpPr/>
          <p:nvPr>
            <p:extLst>
              <p:ext uri="{F5677B7D-0D2A-4D9B-9A5C-6D8D7D0E5A5D}">
                <pptd:line encoding="base64url">eyJ2aWV3Qm94IjpbMjAsNTBdLCJwb2ludHMiOiIxMCwwIDEwLDUwIn0</pptd:line>
              </p:ext>
            </p:extLst>
          </p:nvPr>
        </p:nvSpPr>
        <p:spPr>
          <a:xfrm>
            <a:off x="4470400" y="4318000"/>
            <a:ext cx="254000" cy="635000"/>
          </a:xfrm>
          <a:custGeom>
            <a:avLst/>
            <a:gdLst/>
            <a:ahLst/>
            <a:cxnLst/>
            <a:rect l="l" t="t" r="r" b="b"/>
            <a:pathLst>
              <a:path w="20" h="50">
                <a:moveTo>
                  <a:pt x="10" y="0"/>
                </a:moveTo>
                <a:lnTo>
                  <a:pt x="10" y="50"/>
                </a:lnTo>
              </a:path>
            </a:pathLst>
          </a:custGeom>
          <a:noFill/>
          <a:ln w="25400" cap="rnd">
            <a:solidFill>
              <a:srgbClr val="6B7683"/>
            </a:solidFill>
            <a:round/>
            <a:tailEnd type="arrow"/>
          </a:ln>
        </p:spPr>
      </p:sp>
      <p:sp>
        <p:nvSpPr>
          <p:cNvPr id="20" name="log-lab"/>
          <p:cNvSpPr txBox="1"/>
          <p:nvPr/>
        </p:nvSpPr>
        <p:spPr>
          <a:xfrm>
            <a:off x="3327400" y="4470400"/>
            <a:ext cx="1016000" cy="330200"/>
          </a:xfrm>
          <a:prstGeom prst="rect">
            <a:avLst/>
          </a:prstGeom>
          <a:noFill/>
          <a:ln>
            <a:noFill/>
          </a:ln>
        </p:spPr>
        <p:txBody>
          <a:bodyPr lIns="0" rIns="0" tIns="0" bIns="0" wrap="square" rtlCol="0" anchor="t"/>
          <a:lstStyle/>
          <a:p>
            <a:pPr algn="r">
              <a:lnSpc>
                <a:spcPct val="135000"/>
              </a:lnSpc>
            </a:pPr>
            <a:r>
              <a:rPr lang="en-US" sz="1000" noProof="1">
                <a:solidFill>
                  <a:srgbClr val="6B7683"/>
                </a:solidFill>
                <a:latin typeface="MiSans"/>
                <a:ea typeface="MiSans"/>
              </a:rPr>
              <a:t>chaque appel loggé (200 &amp; 422)</a:t>
            </a:r>
            <a:endParaRPr lang="en-US" sz="1000" noProof="1"/>
          </a:p>
        </p:txBody>
      </p:sp>
      <p:sp>
        <p:nvSpPr>
          <p:cNvPr id="21" name="db-box"/>
          <p:cNvSpPr/>
          <p:nvPr/>
        </p:nvSpPr>
        <p:spPr>
          <a:xfrm>
            <a:off x="3048000" y="4953000"/>
            <a:ext cx="3098800" cy="787400"/>
          </a:xfrm>
          <a:prstGeom prst="rect">
            <a:avLst/>
          </a:prstGeom>
          <a:solidFill>
            <a:srgbClr val="FFFFFF"/>
          </a:solidFill>
          <a:ln w="19050">
            <a:solidFill>
              <a:srgbClr val="16324F"/>
            </a:solidFill>
          </a:ln>
        </p:spPr>
      </p:sp>
      <p:sp>
        <p:nvSpPr>
          <p:cNvPr id="22" name="db-txt"/>
          <p:cNvSpPr txBox="1"/>
          <p:nvPr/>
        </p:nvSpPr>
        <p:spPr>
          <a:xfrm>
            <a:off x="3200400" y="5054600"/>
            <a:ext cx="2794000" cy="609600"/>
          </a:xfrm>
          <a:prstGeom prst="rect">
            <a:avLst/>
          </a:prstGeom>
          <a:noFill/>
          <a:ln>
            <a:noFill/>
          </a:ln>
        </p:spPr>
        <p:txBody>
          <a:bodyPr lIns="0" rIns="0" tIns="0" bIns="0" wrap="square" rtlCol="0"/>
          <a:lstStyle/>
          <a:p>
            <a:pPr>
              <a:lnSpc>
                <a:spcPct val="120000"/>
              </a:lnSpc>
            </a:pPr>
            <a:r>
              <a:rPr lang="en-US" sz="1150" noProof="1" b="1">
                <a:solidFill>
                  <a:srgbClr val="16324F"/>
                </a:solidFill>
                <a:latin typeface="MiSans"/>
                <a:ea typeface="MiSans"/>
              </a:rPr>
              <a:t>SQLite prod_logs.db</a:t>
            </a:r>
            <a:r>
              <a:rPr lang="en-US" sz="1150" noProof="1">
                <a:solidFill>
                  <a:srgbClr val="16324F"/>
                </a:solidFill>
                <a:latin typeface="MiSans"/>
                <a:ea typeface="MiSans"/>
              </a:rPr>
              <a:t> + miroir JSONL</a:t>
            </a:r>
            <a:endParaRPr lang="en-US" sz="1150" noProof="1"/>
          </a:p>
          <a:p>
            <a:pPr>
              <a:lnSpc>
                <a:spcPct val="120000"/>
              </a:lnSpc>
              <a:spcBef>
                <a:spcPts val="200"/>
              </a:spcBef>
            </a:pPr>
            <a:r>
              <a:rPr lang="en-US" sz="1050" noProof="1">
                <a:solidFill>
                  <a:srgbClr val="6B7683"/>
                </a:solidFill>
                <a:latin typeface="MiSans"/>
                <a:ea typeface="MiSans"/>
              </a:rPr>
              <a:t>inputs, score, décision, latence, statut HTTP</a:t>
            </a:r>
            <a:endParaRPr lang="en-US" sz="1150" noProof="1"/>
          </a:p>
        </p:txBody>
      </p:sp>
      <p:sp>
        <p:nvSpPr>
          <p:cNvPr id="23" name="ana-arrow"/>
          <p:cNvSpPr/>
          <p:nvPr>
            <p:extLst>
              <p:ext uri="{F5677B7D-0D2A-4D9B-9A5C-6D8D7D0E5A5D}">
                <pptd:line encoding="base64url">eyJ2aWV3Qm94IjpbNjAsMjBdLCJwb2ludHMiOiIwLDEwIDYwLDEwIn0</pptd:line>
              </p:ext>
            </p:extLst>
          </p:nvPr>
        </p:nvSpPr>
        <p:spPr>
          <a:xfrm>
            <a:off x="6146800" y="5207000"/>
            <a:ext cx="762000" cy="254000"/>
          </a:xfrm>
          <a:custGeom>
            <a:avLst/>
            <a:gdLst/>
            <a:ahLst/>
            <a:cxnLst/>
            <a:rect l="l" t="t" r="r" b="b"/>
            <a:pathLst>
              <a:path w="60" h="20">
                <a:moveTo>
                  <a:pt x="0" y="10"/>
                </a:moveTo>
                <a:lnTo>
                  <a:pt x="60" y="10"/>
                </a:lnTo>
              </a:path>
            </a:pathLst>
          </a:custGeom>
          <a:noFill/>
          <a:ln w="25400" cap="rnd">
            <a:solidFill>
              <a:srgbClr val="6B7683"/>
            </a:solidFill>
            <a:round/>
            <a:tailEnd type="arrow"/>
          </a:ln>
        </p:spPr>
      </p:sp>
      <p:sp>
        <p:nvSpPr>
          <p:cNvPr id="24" name="ana-box"/>
          <p:cNvSpPr/>
          <p:nvPr/>
        </p:nvSpPr>
        <p:spPr>
          <a:xfrm>
            <a:off x="6908800" y="4953000"/>
            <a:ext cx="2159000" cy="787400"/>
          </a:xfrm>
          <a:prstGeom prst="rect">
            <a:avLst/>
          </a:prstGeom>
          <a:solidFill>
            <a:srgbClr val="FFFFFF"/>
          </a:solidFill>
          <a:ln w="12700">
            <a:solidFill>
              <a:srgbClr val="D8DEE4"/>
            </a:solidFill>
          </a:ln>
        </p:spPr>
      </p:sp>
      <p:sp>
        <p:nvSpPr>
          <p:cNvPr id="25" name="ana-txt"/>
          <p:cNvSpPr txBox="1"/>
          <p:nvPr/>
        </p:nvSpPr>
        <p:spPr>
          <a:xfrm>
            <a:off x="7061200" y="5054600"/>
            <a:ext cx="1854200" cy="609600"/>
          </a:xfrm>
          <a:prstGeom prst="rect">
            <a:avLst/>
          </a:prstGeom>
          <a:noFill/>
          <a:ln>
            <a:noFill/>
          </a:ln>
        </p:spPr>
        <p:txBody>
          <a:bodyPr lIns="0" rIns="0" tIns="0" bIns="0" wrap="square" rtlCol="0"/>
          <a:lstStyle/>
          <a:p>
            <a:pPr>
              <a:lnSpc>
                <a:spcPct val="120000"/>
              </a:lnSpc>
            </a:pPr>
            <a:r>
              <a:rPr lang="en-US" sz="1150" noProof="1" b="1">
                <a:solidFill>
                  <a:srgbClr val="16324F"/>
                </a:solidFill>
                <a:latin typeface="MiSans"/>
                <a:ea typeface="MiSans"/>
              </a:rPr>
              <a:t>Evidently</a:t>
            </a:r>
            <a:r>
              <a:rPr lang="en-US" sz="1150" noProof="1">
                <a:solidFill>
                  <a:srgbClr val="16324F"/>
                </a:solidFill>
                <a:latin typeface="MiSans"/>
                <a:ea typeface="MiSans"/>
              </a:rPr>
              <a:t> (drift)</a:t>
            </a:r>
            <a:endParaRPr lang="en-US" sz="1150" noProof="1"/>
          </a:p>
          <a:p>
            <a:pPr>
              <a:lnSpc>
                <a:spcPct val="120000"/>
              </a:lnSpc>
              <a:spcBef>
                <a:spcPts val="200"/>
              </a:spcBef>
            </a:pPr>
            <a:r>
              <a:rPr lang="en-US" sz="1050" noProof="1">
                <a:solidFill>
                  <a:srgbClr val="6B7683"/>
                </a:solidFill>
                <a:latin typeface="MiSans"/>
                <a:ea typeface="MiSans"/>
              </a:rPr>
              <a:t>référence train vs production</a:t>
            </a:r>
            <a:endParaRPr lang="en-US" sz="1150" noProof="1"/>
          </a:p>
        </p:txBody>
      </p:sp>
      <p:sp>
        <p:nvSpPr>
          <p:cNvPr id="26" name="dash-arrow"/>
          <p:cNvSpPr/>
          <p:nvPr>
            <p:extLst>
              <p:ext uri="{F5677B7D-0D2A-4D9B-9A5C-6D8D7D0E5A5D}">
                <pptd:line encoding="base64url">eyJ2aWV3Qm94IjpbNDQsMjBdLCJwb2ludHMiOiIwLDEwIDQ0LDEwIn0</pptd:line>
              </p:ext>
            </p:extLst>
          </p:nvPr>
        </p:nvSpPr>
        <p:spPr>
          <a:xfrm>
            <a:off x="9067800" y="5207000"/>
            <a:ext cx="558800" cy="254000"/>
          </a:xfrm>
          <a:custGeom>
            <a:avLst/>
            <a:gdLst/>
            <a:ahLst/>
            <a:cxnLst/>
            <a:rect l="l" t="t" r="r" b="b"/>
            <a:pathLst>
              <a:path w="44" h="20">
                <a:moveTo>
                  <a:pt x="0" y="10"/>
                </a:moveTo>
                <a:lnTo>
                  <a:pt x="44" y="10"/>
                </a:lnTo>
              </a:path>
            </a:pathLst>
          </a:custGeom>
          <a:noFill/>
          <a:ln w="25400" cap="rnd">
            <a:solidFill>
              <a:srgbClr val="6B7683"/>
            </a:solidFill>
            <a:round/>
            <a:tailEnd type="arrow"/>
          </a:ln>
        </p:spPr>
      </p:sp>
      <p:sp>
        <p:nvSpPr>
          <p:cNvPr id="27" name="dash-box"/>
          <p:cNvSpPr/>
          <p:nvPr/>
        </p:nvSpPr>
        <p:spPr>
          <a:xfrm>
            <a:off x="9626600" y="4953000"/>
            <a:ext cx="1854200" cy="787400"/>
          </a:xfrm>
          <a:prstGeom prst="rect">
            <a:avLst/>
          </a:prstGeom>
          <a:solidFill>
            <a:srgbClr val="FFFFFF"/>
          </a:solidFill>
          <a:ln w="12700">
            <a:solidFill>
              <a:srgbClr val="D8DEE4"/>
            </a:solidFill>
          </a:ln>
        </p:spPr>
      </p:sp>
      <p:sp>
        <p:nvSpPr>
          <p:cNvPr id="28" name="dash-txt"/>
          <p:cNvSpPr txBox="1"/>
          <p:nvPr/>
        </p:nvSpPr>
        <p:spPr>
          <a:xfrm>
            <a:off x="9753600" y="5054600"/>
            <a:ext cx="1600200" cy="609600"/>
          </a:xfrm>
          <a:prstGeom prst="rect">
            <a:avLst/>
          </a:prstGeom>
          <a:noFill/>
          <a:ln>
            <a:noFill/>
          </a:ln>
        </p:spPr>
        <p:txBody>
          <a:bodyPr lIns="0" rIns="0" tIns="0" bIns="0" wrap="square" rtlCol="0"/>
          <a:lstStyle/>
          <a:p>
            <a:pPr>
              <a:lnSpc>
                <a:spcPct val="120000"/>
              </a:lnSpc>
            </a:pPr>
            <a:r>
              <a:rPr lang="en-US" sz="1150" noProof="1" b="1">
                <a:solidFill>
                  <a:srgbClr val="16324F"/>
                </a:solidFill>
                <a:latin typeface="MiSans"/>
                <a:ea typeface="MiSans"/>
              </a:rPr>
              <a:t>Dashboard</a:t>
            </a:r>
            <a:endParaRPr lang="en-US" sz="1150" noProof="1"/>
          </a:p>
          <a:p>
            <a:pPr>
              <a:lnSpc>
                <a:spcPct val="120000"/>
              </a:lnSpc>
              <a:spcBef>
                <a:spcPts val="200"/>
              </a:spcBef>
            </a:pPr>
            <a:r>
              <a:rPr lang="en-US" sz="1050" noProof="1">
                <a:solidFill>
                  <a:srgbClr val="6B7683"/>
                </a:solidFill>
                <a:latin typeface="MiSans"/>
                <a:ea typeface="MiSans"/>
              </a:rPr>
              <a:t>Streamlit : scores, latence, erreurs</a:t>
            </a:r>
            <a:endParaRPr lang="en-US" sz="1150" noProof="1"/>
          </a:p>
        </p:txBody>
      </p:sp>
      <p:sp>
        <p:nvSpPr>
          <p:cNvPr id="29" name="docker-note"/>
          <p:cNvSpPr txBox="1"/>
          <p:nvPr/>
        </p:nvSpPr>
        <p:spPr>
          <a:xfrm>
            <a:off x="711200" y="1905000"/>
            <a:ext cx="5969000" cy="762000"/>
          </a:xfrm>
          <a:prstGeom prst="rect">
            <a:avLst/>
          </a:prstGeom>
          <a:noFill/>
          <a:ln>
            <a:noFill/>
          </a:ln>
        </p:spPr>
        <p:txBody>
          <a:bodyPr lIns="0" rIns="0" tIns="0" bIns="0" wrap="square" rtlCol="0"/>
          <a:lstStyle/>
          <a:p>
            <a:pPr>
              <a:lnSpc>
                <a:spcPct val="145000"/>
              </a:lnSpc>
            </a:pPr>
            <a:r>
              <a:rPr lang="en-US" sz="1250" noProof="1" b="1">
                <a:solidFill>
                  <a:srgbClr val="33404D"/>
                </a:solidFill>
                <a:latin typeface="MiSans"/>
                <a:ea typeface="MiSans"/>
              </a:rPr>
              <a:t>Conteneurisation :</a:t>
            </a:r>
            <a:r>
              <a:rPr lang="en-US" sz="1250" noProof="1">
                <a:solidFill>
                  <a:srgbClr val="33404D"/>
                </a:solidFill>
                <a:latin typeface="MiSans"/>
                <a:ea typeface="MiSans"/>
              </a:rPr>
              <a:t> image </a:t>
            </a:r>
            <a:r>
              <a:rPr lang="en-US" sz="1250" noProof="1">
                <a:solidFill>
                  <a:srgbClr val="33404D"/>
                </a:solidFill>
                <a:latin typeface="JetBrains Mono"/>
                <a:ea typeface="JetBrains Mono"/>
              </a:rPr>
              <a:t>python:3.12-slim</a:t>
            </a:r>
            <a:r>
              <a:rPr lang="en-US" sz="1250" noProof="1">
                <a:solidFill>
                  <a:srgbClr val="33404D"/>
                </a:solidFill>
                <a:latin typeface="MiSans"/>
                <a:ea typeface="MiSans"/>
              </a:rPr>
              <a:t> autonome (API + modèles + deps serving), healthcheck </a:t>
            </a:r>
            <a:r>
              <a:rPr lang="en-US" sz="1250" noProof="1">
                <a:solidFill>
                  <a:srgbClr val="33404D"/>
                </a:solidFill>
                <a:latin typeface="JetBrains Mono"/>
                <a:ea typeface="JetBrains Mono"/>
              </a:rPr>
              <a:t>/health</a:t>
            </a:r>
            <a:r>
              <a:rPr lang="en-US" sz="1250" noProof="1">
                <a:solidFill>
                  <a:srgbClr val="33404D"/>
                </a:solidFill>
                <a:latin typeface="MiSans"/>
                <a:ea typeface="MiSans"/>
              </a:rPr>
              <a:t>, volume pour les logs.</a:t>
            </a:r>
            <a:endParaRPr lang="en-US" sz="1250" noProof="1"/>
          </a:p>
        </p:txBody>
      </p:sp>
      <p:sp>
        <p:nvSpPr>
          <p:cNvPr id="30"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31"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04</a:t>
            </a:r>
            <a:endParaRPr lang="en-US" sz="1100" noProof="1"/>
          </a:p>
        </p:txBody>
      </p:sp>
    </p:spTree>
  </p:cSld>
  <p:clrMapOvr>
    <a:masterClrMapping/>
  </p:clrMapOvr>
</p:sld>
</file>

<file path=ppt/slides/slide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L'API : contrat d'entrée strict, modèle chargé une seule fois</a:t>
            </a:r>
            <a:endParaRPr lang="en-US" sz="2600" noProof="1"/>
          </a:p>
        </p:txBody>
      </p:sp>
      <p:sp>
        <p:nvSpPr>
          <p:cNvPr id="4" name="left-head"/>
          <p:cNvSpPr txBox="1"/>
          <p:nvPr/>
        </p:nvSpPr>
        <p:spPr>
          <a:xfrm>
            <a:off x="711200" y="1498600"/>
            <a:ext cx="50800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Endpoints</a:t>
            </a:r>
            <a:endParaRPr lang="en-US" sz="1200" noProof="1"/>
          </a:p>
        </p:txBody>
      </p:sp>
      <p:sp>
        <p:nvSpPr>
          <p:cNvPr id="5" name="ep"/>
          <p:cNvSpPr txBox="1"/>
          <p:nvPr/>
        </p:nvSpPr>
        <p:spPr>
          <a:xfrm>
            <a:off x="711200" y="1803400"/>
            <a:ext cx="5334000" cy="1219200"/>
          </a:xfrm>
          <a:prstGeom prst="rect">
            <a:avLst/>
          </a:prstGeom>
          <a:noFill/>
          <a:ln>
            <a:noFill/>
          </a:ln>
        </p:spPr>
        <p:txBody>
          <a:bodyPr lIns="0" rIns="0" tIns="0" bIns="0" wrap="square" rtlCol="0"/>
          <a:lstStyle/>
          <a:p>
            <a:pPr>
              <a:lnSpc>
                <a:spcPct val="145000"/>
              </a:lnSpc>
            </a:pPr>
            <a:r>
              <a:rPr lang="en-US" sz="1250" noProof="1">
                <a:solidFill>
                  <a:srgbClr val="C96A1B"/>
                </a:solidFill>
                <a:latin typeface="JetBrains Mono"/>
                <a:ea typeface="JetBrains Mono"/>
              </a:rPr>
              <a:t>POST /predict</a:t>
            </a:r>
            <a:r>
              <a:rPr lang="en-US" sz="1250" noProof="1">
                <a:solidFill>
                  <a:srgbClr val="33404D"/>
                </a:solidFill>
                <a:latin typeface="MiSans"/>
                <a:ea typeface="MiSans"/>
              </a:rPr>
              <a:t> — score + décision métier</a:t>
            </a:r>
            <a:endParaRPr lang="en-US" sz="1250" noProof="1"/>
          </a:p>
          <a:p>
            <a:pPr>
              <a:lnSpc>
                <a:spcPct val="145000"/>
              </a:lnSpc>
              <a:spcBef>
                <a:spcPts val="600"/>
              </a:spcBef>
            </a:pPr>
            <a:r>
              <a:rPr lang="en-US" sz="1250" noProof="1">
                <a:solidFill>
                  <a:srgbClr val="33404D"/>
                </a:solidFill>
                <a:latin typeface="JetBrains Mono"/>
                <a:ea typeface="JetBrains Mono"/>
              </a:rPr>
              <a:t>GET /health</a:t>
            </a:r>
            <a:r>
              <a:rPr lang="en-US" sz="1250" noProof="1">
                <a:solidFill>
                  <a:srgbClr val="33404D"/>
                </a:solidFill>
                <a:latin typeface="MiSans"/>
                <a:ea typeface="MiSans"/>
              </a:rPr>
              <a:t> — santé (healthcheck Docker)</a:t>
            </a:r>
            <a:endParaRPr lang="en-US" sz="1250" noProof="1"/>
          </a:p>
          <a:p>
            <a:pPr>
              <a:lnSpc>
                <a:spcPct val="145000"/>
              </a:lnSpc>
              <a:spcBef>
                <a:spcPts val="600"/>
              </a:spcBef>
            </a:pPr>
            <a:r>
              <a:rPr lang="en-US" sz="1250" noProof="1">
                <a:solidFill>
                  <a:srgbClr val="33404D"/>
                </a:solidFill>
                <a:latin typeface="JetBrains Mono"/>
                <a:ea typeface="JetBrains Mono"/>
              </a:rPr>
              <a:t>GET /info</a:t>
            </a:r>
            <a:r>
              <a:rPr lang="en-US" sz="1250" noProof="1">
                <a:solidFill>
                  <a:srgbClr val="33404D"/>
                </a:solidFill>
                <a:latin typeface="MiSans"/>
                <a:ea typeface="MiSans"/>
              </a:rPr>
              <a:t> — version modèle, moteur (onnx / repli), seuil</a:t>
            </a:r>
            <a:endParaRPr lang="en-US" sz="1250" noProof="1"/>
          </a:p>
          <a:p>
            <a:pPr>
              <a:lnSpc>
                <a:spcPct val="145000"/>
              </a:lnSpc>
              <a:spcBef>
                <a:spcPts val="600"/>
              </a:spcBef>
            </a:pPr>
            <a:r>
              <a:rPr lang="en-US" sz="1250" noProof="1">
                <a:solidFill>
                  <a:srgbClr val="33404D"/>
                </a:solidFill>
                <a:latin typeface="JetBrains Mono"/>
                <a:ea typeface="JetBrains Mono"/>
              </a:rPr>
              <a:t>GET /docs</a:t>
            </a:r>
            <a:r>
              <a:rPr lang="en-US" sz="1250" noProof="1">
                <a:solidFill>
                  <a:srgbClr val="33404D"/>
                </a:solidFill>
                <a:latin typeface="MiSans"/>
                <a:ea typeface="MiSans"/>
              </a:rPr>
              <a:t> — Swagger UI auto-documenté</a:t>
            </a:r>
            <a:endParaRPr lang="en-US" sz="1250" noProof="1"/>
          </a:p>
        </p:txBody>
      </p:sp>
      <p:sp>
        <p:nvSpPr>
          <p:cNvPr id="6" name="valid-head"/>
          <p:cNvSpPr txBox="1"/>
          <p:nvPr/>
        </p:nvSpPr>
        <p:spPr>
          <a:xfrm>
            <a:off x="711200" y="3200400"/>
            <a:ext cx="50800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Validation d'entrée (Pydantic v2) — erreurs → 422</a:t>
            </a:r>
            <a:endParaRPr lang="en-US" sz="1200" noProof="1"/>
          </a:p>
        </p:txBody>
      </p:sp>
      <p:sp>
        <p:nvSpPr>
          <p:cNvPr id="7" name="valid"/>
          <p:cNvSpPr txBox="1"/>
          <p:nvPr/>
        </p:nvSpPr>
        <p:spPr>
          <a:xfrm>
            <a:off x="711200" y="3505200"/>
            <a:ext cx="5334000" cy="2286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Champs métier obligatoires avec plages : revenu &gt; 0, âge entre 18 et 82 ans (</a:t>
            </a:r>
            <a:r>
              <a:rPr lang="en-US" sz="1250" noProof="1">
                <a:solidFill>
                  <a:srgbClr val="33404D"/>
                </a:solidFill>
                <a:latin typeface="JetBrains Mono"/>
                <a:ea typeface="JetBrains Mono"/>
              </a:rPr>
              <a:t>DAYS_BIRTH</a:t>
            </a:r>
            <a:r>
              <a:rPr lang="en-US" sz="1250" noProof="1">
                <a:solidFill>
                  <a:srgbClr val="33404D"/>
                </a:solidFill>
                <a:latin typeface="MiSans"/>
                <a:ea typeface="MiSans"/>
              </a:rPr>
              <a:t>), </a:t>
            </a:r>
            <a:r>
              <a:rPr lang="en-US" sz="1250" noProof="1">
                <a:solidFill>
                  <a:srgbClr val="33404D"/>
                </a:solidFill>
                <a:latin typeface="JetBrains Mono"/>
                <a:ea typeface="JetBrains Mono"/>
              </a:rPr>
              <a:t>EXT_SOURCE_*</a:t>
            </a:r>
            <a:r>
              <a:rPr lang="en-US" sz="1250" noProof="1">
                <a:solidFill>
                  <a:srgbClr val="33404D"/>
                </a:solidFill>
                <a:latin typeface="MiSans"/>
                <a:ea typeface="MiSans"/>
              </a:rPr>
              <a:t> ∈ [0, 1]</a:t>
            </a:r>
            <a:endParaRPr lang="en-US" sz="1250" noProof="1"/>
          </a:p>
          <a:p>
            <a:pPr>
              <a:lnSpc>
                <a:spcPct val="145000"/>
              </a:lnSpc>
              <a:spcBef>
                <a:spcPts val="600"/>
              </a:spcBef>
            </a:pPr>
            <a:r>
              <a:rPr lang="en-US" sz="1250" noProof="1">
                <a:solidFill>
                  <a:srgbClr val="33404D"/>
                </a:solidFill>
                <a:latin typeface="MiSans"/>
                <a:ea typeface="MiSans"/>
              </a:rPr>
              <a:t>• Anomalie documentée acceptée : </a:t>
            </a:r>
            <a:r>
              <a:rPr lang="en-US" sz="1250" noProof="1">
                <a:solidFill>
                  <a:srgbClr val="33404D"/>
                </a:solidFill>
                <a:latin typeface="JetBrains Mono"/>
                <a:ea typeface="JetBrains Mono"/>
              </a:rPr>
              <a:t>DAYS_EMPLOYED = 365243</a:t>
            </a:r>
            <a:endParaRPr lang="en-US" sz="1250" noProof="1"/>
          </a:p>
          <a:p>
            <a:pPr>
              <a:lnSpc>
                <a:spcPct val="145000"/>
              </a:lnSpc>
              <a:spcBef>
                <a:spcPts val="600"/>
              </a:spcBef>
            </a:pPr>
            <a:r>
              <a:rPr lang="en-US" sz="1250" noProof="1">
                <a:solidFill>
                  <a:srgbClr val="33404D"/>
                </a:solidFill>
                <a:latin typeface="MiSans"/>
                <a:ea typeface="MiSans"/>
              </a:rPr>
              <a:t>• Dict </a:t>
            </a:r>
            <a:r>
              <a:rPr lang="en-US" sz="1250" noProof="1">
                <a:solidFill>
                  <a:srgbClr val="33404D"/>
                </a:solidFill>
                <a:latin typeface="JetBrains Mono"/>
                <a:ea typeface="JetBrains Mono"/>
              </a:rPr>
              <a:t>features</a:t>
            </a:r>
            <a:r>
              <a:rPr lang="en-US" sz="1250" noProof="1">
                <a:solidFill>
                  <a:srgbClr val="33404D"/>
                </a:solidFill>
                <a:latin typeface="MiSans"/>
                <a:ea typeface="MiSans"/>
              </a:rPr>
              <a:t> optionnel pour les 402 variables engineered ; </a:t>
            </a:r>
            <a:r>
              <a:rPr lang="en-US" sz="1250" noProof="1" b="1">
                <a:solidFill>
                  <a:srgbClr val="33404D"/>
                </a:solidFill>
                <a:latin typeface="MiSans"/>
                <a:ea typeface="MiSans"/>
              </a:rPr>
              <a:t>clé inconnue rejetée</a:t>
            </a:r>
            <a:endParaRPr lang="en-US" sz="1250" noProof="1"/>
          </a:p>
          <a:p>
            <a:pPr>
              <a:lnSpc>
                <a:spcPct val="145000"/>
              </a:lnSpc>
              <a:spcBef>
                <a:spcPts val="600"/>
              </a:spcBef>
            </a:pPr>
            <a:r>
              <a:rPr lang="en-US" sz="1250" noProof="1">
                <a:solidFill>
                  <a:srgbClr val="33404D"/>
                </a:solidFill>
                <a:latin typeface="MiSans"/>
                <a:ea typeface="MiSans"/>
              </a:rPr>
              <a:t>• Features absentes → NaN, gérés nativement par le modèle</a:t>
            </a:r>
            <a:endParaRPr lang="en-US" sz="1250" noProof="1"/>
          </a:p>
        </p:txBody>
      </p:sp>
      <p:sp>
        <p:nvSpPr>
          <p:cNvPr id="8" name="code-box"/>
          <p:cNvSpPr/>
          <p:nvPr/>
        </p:nvSpPr>
        <p:spPr>
          <a:xfrm>
            <a:off x="6477000" y="1498600"/>
            <a:ext cx="5003800" cy="4013200"/>
          </a:xfrm>
          <a:prstGeom prst="rect">
            <a:avLst/>
          </a:prstGeom>
          <a:solidFill>
            <a:srgbClr val="16324F"/>
          </a:solidFill>
          <a:ln>
            <a:noFill/>
          </a:ln>
        </p:spPr>
      </p:sp>
      <p:sp>
        <p:nvSpPr>
          <p:cNvPr id="9" name="code-title"/>
          <p:cNvSpPr txBox="1"/>
          <p:nvPr/>
        </p:nvSpPr>
        <p:spPr>
          <a:xfrm>
            <a:off x="6680200" y="1651000"/>
            <a:ext cx="4572000" cy="203200"/>
          </a:xfrm>
          <a:prstGeom prst="rect">
            <a:avLst/>
          </a:prstGeom>
          <a:noFill/>
          <a:ln>
            <a:noFill/>
          </a:ln>
        </p:spPr>
        <p:txBody>
          <a:bodyPr lIns="0" rIns="0" tIns="0" bIns="0" wrap="none" rtlCol="0"/>
          <a:lstStyle/>
          <a:p>
            <a:pPr>
              <a:lnSpc>
                <a:spcPct val="120000"/>
              </a:lnSpc>
            </a:pPr>
            <a:r>
              <a:rPr lang="en-US" sz="1050" noProof="1" b="1">
                <a:solidFill>
                  <a:srgbClr val="C8D2DC"/>
                </a:solidFill>
                <a:latin typeface="MiSans"/>
                <a:ea typeface="MiSans"/>
              </a:rPr>
              <a:t>Requête → réponse (démonstration)</a:t>
            </a:r>
            <a:endParaRPr lang="en-US" sz="1050" noProof="1"/>
          </a:p>
        </p:txBody>
      </p:sp>
      <p:sp>
        <p:nvSpPr>
          <p:cNvPr id="10" name="code"/>
          <p:cNvSpPr txBox="1"/>
          <p:nvPr/>
        </p:nvSpPr>
        <p:spPr>
          <a:xfrm>
            <a:off x="6680200" y="1930400"/>
            <a:ext cx="4597400" cy="3454400"/>
          </a:xfrm>
          <a:prstGeom prst="rect">
            <a:avLst/>
          </a:prstGeom>
          <a:noFill/>
          <a:ln>
            <a:noFill/>
          </a:ln>
        </p:spPr>
        <p:txBody>
          <a:bodyPr lIns="0" rIns="0" tIns="0" bIns="0" wrap="square" rtlCol="0"/>
          <a:lstStyle/>
          <a:p>
            <a:pPr>
              <a:lnSpc>
                <a:spcPct val="140000"/>
              </a:lnSpc>
            </a:pPr>
            <a:r>
              <a:rPr lang="en-US" sz="1000" noProof="1">
                <a:solidFill>
                  <a:srgbClr val="8FA9BF"/>
                </a:solidFill>
                <a:latin typeface="JetBrains Mono"/>
                <a:ea typeface="JetBrains Mono"/>
              </a:rPr>
              <a:t>POST /predict</a:t>
            </a:r>
            <a:endParaRPr lang="en-US" sz="1000" noProof="1"/>
          </a:p>
          <a:p>
            <a:pPr>
              <a:lnSpc>
                <a:spcPct val="140000"/>
              </a:lnSpc>
            </a:pPr>
            <a:r>
              <a:rPr lang="en-US" sz="1000" noProof="1">
                <a:solidFill>
                  <a:srgbClr val="E8EDF2"/>
                </a:solidFill>
                <a:latin typeface="JetBrains Mono"/>
                <a:ea typeface="JetBrains Mono"/>
              </a:rPr>
              <a:t>{</a:t>
            </a:r>
            <a:endParaRPr lang="en-US" sz="1000" noProof="1"/>
          </a:p>
          <a:p>
            <a:pPr>
              <a:lnSpc>
                <a:spcPct val="140000"/>
              </a:lnSpc>
            </a:pPr>
            <a:r>
              <a:rPr lang="en-US" sz="1000" noProof="1">
                <a:solidFill>
                  <a:srgbClr val="E8EDF2"/>
                </a:solidFill>
                <a:latin typeface="JetBrains Mono"/>
                <a:ea typeface="JetBrains Mono"/>
              </a:rPr>
              <a:t>  "AMT_INCOME_TOTAL": 180000,</a:t>
            </a:r>
            <a:endParaRPr lang="en-US" sz="1000" noProof="1"/>
          </a:p>
          <a:p>
            <a:pPr>
              <a:lnSpc>
                <a:spcPct val="140000"/>
              </a:lnSpc>
            </a:pPr>
            <a:r>
              <a:rPr lang="en-US" sz="1000" noProof="1">
                <a:solidFill>
                  <a:srgbClr val="E8EDF2"/>
                </a:solidFill>
                <a:latin typeface="JetBrains Mono"/>
                <a:ea typeface="JetBrains Mono"/>
              </a:rPr>
              <a:t>  "AMT_CREDIT": 450000,</a:t>
            </a:r>
            <a:endParaRPr lang="en-US" sz="1000" noProof="1"/>
          </a:p>
          <a:p>
            <a:pPr>
              <a:lnSpc>
                <a:spcPct val="140000"/>
              </a:lnSpc>
            </a:pPr>
            <a:r>
              <a:rPr lang="en-US" sz="1000" noProof="1">
                <a:solidFill>
                  <a:srgbClr val="E8EDF2"/>
                </a:solidFill>
                <a:latin typeface="JetBrains Mono"/>
                <a:ea typeface="JetBrains Mono"/>
              </a:rPr>
              <a:t>  "DAYS_BIRTH": -14600,</a:t>
            </a:r>
            <a:endParaRPr lang="en-US" sz="1000" noProof="1"/>
          </a:p>
          <a:p>
            <a:pPr>
              <a:lnSpc>
                <a:spcPct val="140000"/>
              </a:lnSpc>
            </a:pPr>
            <a:r>
              <a:rPr lang="en-US" sz="1000" noProof="1">
                <a:solidFill>
                  <a:srgbClr val="E8EDF2"/>
                </a:solidFill>
                <a:latin typeface="JetBrains Mono"/>
                <a:ea typeface="JetBrains Mono"/>
              </a:rPr>
              <a:t>  "DAYS_EMPLOYED": -2500,</a:t>
            </a:r>
            <a:endParaRPr lang="en-US" sz="1000" noProof="1"/>
          </a:p>
          <a:p>
            <a:pPr>
              <a:lnSpc>
                <a:spcPct val="140000"/>
              </a:lnSpc>
            </a:pPr>
            <a:r>
              <a:rPr lang="en-US" sz="1000" noProof="1">
                <a:solidFill>
                  <a:srgbClr val="E8EDF2"/>
                </a:solidFill>
                <a:latin typeface="JetBrains Mono"/>
                <a:ea typeface="JetBrains Mono"/>
              </a:rPr>
              <a:t>  "EXT_SOURCE_2": 0.62, ...</a:t>
            </a:r>
            <a:endParaRPr lang="en-US" sz="1000" noProof="1"/>
          </a:p>
          <a:p>
            <a:pPr>
              <a:lnSpc>
                <a:spcPct val="140000"/>
              </a:lnSpc>
            </a:pPr>
            <a:r>
              <a:rPr lang="en-US" sz="1000" noProof="1">
                <a:solidFill>
                  <a:srgbClr val="E8EDF2"/>
                </a:solidFill>
                <a:latin typeface="JetBrains Mono"/>
                <a:ea typeface="JetBrains Mono"/>
              </a:rPr>
              <a:t>}</a:t>
            </a:r>
            <a:endParaRPr lang="en-US" sz="1000" noProof="1"/>
          </a:p>
          <a:p>
            <a:pPr>
              <a:lnSpc>
                <a:spcPct val="140000"/>
              </a:lnSpc>
              <a:spcBef>
                <a:spcPts val="1000"/>
              </a:spcBef>
            </a:pPr>
            <a:r>
              <a:rPr lang="en-US" sz="1000" noProof="1">
                <a:solidFill>
                  <a:srgbClr val="8FA9BF"/>
                </a:solidFill>
                <a:latin typeface="JetBrains Mono"/>
                <a:ea typeface="JetBrains Mono"/>
              </a:rPr>
              <a:t>→ 200 OK</a:t>
            </a:r>
            <a:endParaRPr lang="en-US" sz="1000" noProof="1"/>
          </a:p>
          <a:p>
            <a:pPr>
              <a:lnSpc>
                <a:spcPct val="140000"/>
              </a:lnSpc>
            </a:pPr>
            <a:r>
              <a:rPr lang="en-US" sz="1000" noProof="1">
                <a:solidFill>
                  <a:srgbClr val="E8EDF2"/>
                </a:solidFill>
                <a:latin typeface="JetBrains Mono"/>
                <a:ea typeface="JetBrains Mono"/>
              </a:rPr>
              <a:t>{</a:t>
            </a:r>
            <a:endParaRPr lang="en-US" sz="1000" noProof="1"/>
          </a:p>
          <a:p>
            <a:pPr>
              <a:lnSpc>
                <a:spcPct val="140000"/>
              </a:lnSpc>
            </a:pPr>
            <a:r>
              <a:rPr lang="en-US" sz="1000" noProof="1">
                <a:solidFill>
                  <a:srgbClr val="E8EDF2"/>
                </a:solidFill>
                <a:latin typeface="JetBrains Mono"/>
                <a:ea typeface="JetBrains Mono"/>
              </a:rPr>
              <a:t>  "score": </a:t>
            </a:r>
            <a:r>
              <a:rPr lang="en-US" sz="1000" noProof="1">
                <a:solidFill>
                  <a:srgbClr val="E8A25E"/>
                </a:solidFill>
                <a:latin typeface="JetBrains Mono"/>
                <a:ea typeface="JetBrains Mono"/>
              </a:rPr>
              <a:t>0.398128</a:t>
            </a:r>
            <a:r>
              <a:rPr lang="en-US" sz="1000" noProof="1">
                <a:solidFill>
                  <a:srgbClr val="E8EDF2"/>
                </a:solidFill>
                <a:latin typeface="JetBrains Mono"/>
                <a:ea typeface="JetBrains Mono"/>
              </a:rPr>
              <a:t>,</a:t>
            </a:r>
            <a:endParaRPr lang="en-US" sz="1000" noProof="1"/>
          </a:p>
          <a:p>
            <a:pPr>
              <a:lnSpc>
                <a:spcPct val="140000"/>
              </a:lnSpc>
            </a:pPr>
            <a:r>
              <a:rPr lang="en-US" sz="1000" noProof="1">
                <a:solidFill>
                  <a:srgbClr val="E8EDF2"/>
                </a:solidFill>
                <a:latin typeface="JetBrains Mono"/>
                <a:ea typeface="JetBrains Mono"/>
              </a:rPr>
              <a:t>  "decision": "</a:t>
            </a:r>
            <a:r>
              <a:rPr lang="en-US" sz="1000" noProof="1">
                <a:solidFill>
                  <a:srgbClr val="7FBF9E"/>
                </a:solidFill>
                <a:latin typeface="JetBrains Mono"/>
                <a:ea typeface="JetBrains Mono"/>
              </a:rPr>
              <a:t>accorde</a:t>
            </a:r>
            <a:r>
              <a:rPr lang="en-US" sz="1000" noProof="1">
                <a:solidFill>
                  <a:srgbClr val="E8EDF2"/>
                </a:solidFill>
                <a:latin typeface="JetBrains Mono"/>
                <a:ea typeface="JetBrains Mono"/>
              </a:rPr>
              <a:t>",</a:t>
            </a:r>
            <a:endParaRPr lang="en-US" sz="1000" noProof="1"/>
          </a:p>
          <a:p>
            <a:pPr>
              <a:lnSpc>
                <a:spcPct val="140000"/>
              </a:lnSpc>
            </a:pPr>
            <a:r>
              <a:rPr lang="en-US" sz="1000" noProof="1">
                <a:solidFill>
                  <a:srgbClr val="E8EDF2"/>
                </a:solidFill>
                <a:latin typeface="JetBrains Mono"/>
                <a:ea typeface="JetBrains Mono"/>
              </a:rPr>
              <a:t>  "seuil": 0.45,</a:t>
            </a:r>
            <a:endParaRPr lang="en-US" sz="1000" noProof="1"/>
          </a:p>
          <a:p>
            <a:pPr>
              <a:lnSpc>
                <a:spcPct val="140000"/>
              </a:lnSpc>
            </a:pPr>
            <a:r>
              <a:rPr lang="en-US" sz="1000" noProof="1">
                <a:solidFill>
                  <a:srgbClr val="E8EDF2"/>
                </a:solidFill>
                <a:latin typeface="JetBrains Mono"/>
                <a:ea typeface="JetBrains Mono"/>
              </a:rPr>
              <a:t>  "inference_ms": 0.65,</a:t>
            </a:r>
            <a:endParaRPr lang="en-US" sz="1000" noProof="1"/>
          </a:p>
          <a:p>
            <a:pPr>
              <a:lnSpc>
                <a:spcPct val="140000"/>
              </a:lnSpc>
            </a:pPr>
            <a:r>
              <a:rPr lang="en-US" sz="1000" noProof="1">
                <a:solidFill>
                  <a:srgbClr val="E8EDF2"/>
                </a:solidFill>
                <a:latin typeface="JetBrains Mono"/>
                <a:ea typeface="JetBrains Mono"/>
              </a:rPr>
              <a:t>  "latence_ms": 0.80</a:t>
            </a:r>
            <a:endParaRPr lang="en-US" sz="1000" noProof="1"/>
          </a:p>
          <a:p>
            <a:pPr>
              <a:lnSpc>
                <a:spcPct val="140000"/>
              </a:lnSpc>
            </a:pPr>
            <a:r>
              <a:rPr lang="en-US" sz="1000" noProof="1">
                <a:solidFill>
                  <a:srgbClr val="E8EDF2"/>
                </a:solidFill>
                <a:latin typeface="JetBrains Mono"/>
                <a:ea typeface="JetBrains Mono"/>
              </a:rPr>
              <a:t>}</a:t>
            </a:r>
            <a:endParaRPr lang="en-US" sz="1000" noProof="1"/>
          </a:p>
        </p:txBody>
      </p:sp>
      <p:sp>
        <p:nvSpPr>
          <p:cNvPr id="11" name="perf-note"/>
          <p:cNvSpPr txBox="1"/>
          <p:nvPr/>
        </p:nvSpPr>
        <p:spPr>
          <a:xfrm>
            <a:off x="6477000" y="5664200"/>
            <a:ext cx="5003800" cy="508000"/>
          </a:xfrm>
          <a:prstGeom prst="rect">
            <a:avLst/>
          </a:prstGeom>
          <a:noFill/>
          <a:ln>
            <a:noFill/>
          </a:ln>
        </p:spPr>
        <p:txBody>
          <a:bodyPr lIns="0" rIns="0" tIns="0" bIns="0" wrap="square" rtlCol="0"/>
          <a:lstStyle/>
          <a:p>
            <a:pPr>
              <a:lnSpc>
                <a:spcPct val="135000"/>
              </a:lnSpc>
            </a:pPr>
            <a:r>
              <a:rPr lang="en-US" sz="1150" noProof="1">
                <a:solidFill>
                  <a:srgbClr val="6B7683"/>
                </a:solidFill>
                <a:latin typeface="MiSans"/>
                <a:ea typeface="MiSans"/>
              </a:rPr>
              <a:t>Le modèle est chargé </a:t>
            </a:r>
            <a:r>
              <a:rPr lang="en-US" sz="1150" noProof="1" b="1">
                <a:solidFill>
                  <a:srgbClr val="6B7683"/>
                </a:solidFill>
                <a:latin typeface="MiSans"/>
                <a:ea typeface="MiSans"/>
              </a:rPr>
              <a:t>une fois au démarrage</a:t>
            </a:r>
            <a:r>
              <a:rPr lang="en-US" sz="1150" noProof="1">
                <a:solidFill>
                  <a:srgbClr val="6B7683"/>
                </a:solidFill>
                <a:latin typeface="MiSans"/>
                <a:ea typeface="MiSans"/>
              </a:rPr>
              <a:t> (lifespan FastAPI) puis réutilisé — pas de rechargement par requête.</a:t>
            </a:r>
            <a:endParaRPr lang="en-US" sz="1150" noProof="1"/>
          </a:p>
        </p:txBody>
      </p:sp>
      <p:sp>
        <p:nvSpPr>
          <p:cNvPr id="12"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13"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05</a:t>
            </a:r>
            <a:endParaRPr lang="en-US" sz="1100" noProof="1"/>
          </a:p>
        </p:txBody>
      </p:sp>
    </p:spTree>
  </p:cSld>
  <p:clrMapOvr>
    <a:masterClrMapping/>
  </p:clrMapOvr>
</p:sld>
</file>

<file path=ppt/slides/slide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Robustesse : 21 tests automatisés, tous les cas critiques couverts</a:t>
            </a:r>
            <a:endParaRPr lang="en-US" sz="2600" noProof="1"/>
          </a:p>
        </p:txBody>
      </p:sp>
      <p:sp>
        <p:nvSpPr>
          <p:cNvPr id="4" name="kpi"/>
          <p:cNvSpPr txBox="1"/>
          <p:nvPr/>
        </p:nvSpPr>
        <p:spPr>
          <a:xfrm>
            <a:off x="711200" y="1473200"/>
            <a:ext cx="2159000" cy="889000"/>
          </a:xfrm>
          <a:prstGeom prst="rect">
            <a:avLst/>
          </a:prstGeom>
          <a:noFill/>
          <a:ln>
            <a:noFill/>
          </a:ln>
        </p:spPr>
        <p:txBody>
          <a:bodyPr lIns="0" rIns="0" tIns="0" bIns="0" wrap="square" rtlCol="0"/>
          <a:lstStyle/>
          <a:p>
            <a:pPr>
              <a:lnSpc>
                <a:spcPct val="120000"/>
              </a:lnSpc>
            </a:pPr>
            <a:r>
              <a:rPr lang="en-US" sz="4000" noProof="1">
                <a:solidFill>
                  <a:srgbClr val="2F7D5B"/>
                </a:solidFill>
                <a:latin typeface="MiSans"/>
                <a:ea typeface="MiSans"/>
              </a:rPr>
              <a:t>21/21</a:t>
            </a:r>
            <a:endParaRPr lang="en-US" sz="1600" noProof="1"/>
          </a:p>
          <a:p>
            <a:pPr>
              <a:lnSpc>
                <a:spcPct val="120000"/>
              </a:lnSpc>
              <a:spcBef>
                <a:spcPts val="200"/>
              </a:spcBef>
            </a:pPr>
            <a:r>
              <a:rPr lang="en-US" sz="1100" noProof="1">
                <a:solidFill>
                  <a:srgbClr val="6B7683"/>
                </a:solidFill>
                <a:latin typeface="MiSans"/>
                <a:ea typeface="MiSans"/>
              </a:rPr>
              <a:t>tests pytest passés (2,8 s)</a:t>
            </a:r>
            <a:endParaRPr lang="en-US" sz="1600" noProof="1"/>
          </a:p>
        </p:txBody>
      </p:sp>
      <p:graphicFrame>
        <p:nvGraphicFramePr>
          <p:cNvPr id="5" name="tbl"/>
          <p:cNvGraphicFramePr>
            <a:graphicFrameLocks noGrp="1"/>
          </p:cNvGraphicFramePr>
          <p:nvPr/>
        </p:nvGraphicFramePr>
        <p:xfrm>
          <a:off x="3251200" y="1473200"/>
          <a:ext cx="8229600" cy="2667000"/>
        </p:xfrm>
        <a:graphic>
          <a:graphicData uri="http://schemas.openxmlformats.org/drawingml/2006/table">
            <a:tbl>
              <a:tblPr/>
              <a:tblGrid>
                <a:gridCol w="2468880"/>
                <a:gridCol w="3867912"/>
                <a:gridCol w="1892808"/>
              </a:tblGrid>
              <a:tr h="533400">
                <a:tc>
                  <a:txBody>
                    <a:bodyPr wrap="square" rtlCol="0" anchor="ctr"/>
                    <a:lstStyle/>
                    <a:p>
                      <a:pPr algn="l"/>
                      <a:r>
                        <a:rPr lang="en-US" sz="1200" noProof="1" b="1">
                          <a:solidFill>
                            <a:srgbClr val="16324F"/>
                          </a:solidFill>
                          <a:latin typeface="Times New Roman"/>
                          <a:ea typeface="Times New Roman"/>
                        </a:rPr>
                        <a:t>Couche testée</a:t>
                      </a:r>
                    </a:p>
                  </a:txBody>
                  <a:tcPr marL="91440" marR="91440" marT="45720" marB="45720" anchor="ctr">
                    <a:lnL>
                      <a:noFill/>
                    </a:lnL>
                    <a:lnR>
                      <a:noFill/>
                    </a:lnR>
                    <a:lnT>
                      <a:noFill/>
                    </a:lnT>
                    <a:lnB w="19050">
                      <a:solidFill>
                        <a:srgbClr val="16324F"/>
                      </a:solidFill>
                    </a:lnB>
                    <a:noFill/>
                  </a:tcPr>
                </a:tc>
                <a:tc>
                  <a:txBody>
                    <a:bodyPr wrap="square" rtlCol="0" anchor="ctr"/>
                    <a:lstStyle/>
                    <a:p>
                      <a:pPr algn="l"/>
                      <a:r>
                        <a:rPr lang="en-US" sz="1200" noProof="1" b="1">
                          <a:solidFill>
                            <a:srgbClr val="16324F"/>
                          </a:solidFill>
                          <a:latin typeface="Times New Roman"/>
                          <a:ea typeface="Times New Roman"/>
                        </a:rPr>
                        <a:t>Ce qui est vérifié</a:t>
                      </a:r>
                    </a:p>
                  </a:txBody>
                  <a:tcPr marL="91440" marR="91440" marT="45720" marB="45720" anchor="ctr">
                    <a:lnL>
                      <a:noFill/>
                    </a:lnL>
                    <a:lnR>
                      <a:noFill/>
                    </a:lnR>
                    <a:lnT>
                      <a:noFill/>
                    </a:lnT>
                    <a:lnB w="19050">
                      <a:solidFill>
                        <a:srgbClr val="16324F"/>
                      </a:solidFill>
                    </a:lnB>
                    <a:noFill/>
                  </a:tcPr>
                </a:tc>
                <a:tc>
                  <a:txBody>
                    <a:bodyPr wrap="square" rtlCol="0" anchor="ctr"/>
                    <a:lstStyle/>
                    <a:p>
                      <a:pPr algn="l"/>
                      <a:r>
                        <a:rPr lang="en-US" sz="1200" noProof="1" b="1">
                          <a:solidFill>
                            <a:srgbClr val="16324F"/>
                          </a:solidFill>
                          <a:latin typeface="Times New Roman"/>
                          <a:ea typeface="Times New Roman"/>
                        </a:rPr>
                        <a:t>Nb de tests</a:t>
                      </a:r>
                    </a:p>
                  </a:txBody>
                  <a:tcPr marL="91440" marR="91440" marT="45720" marB="45720" anchor="ctr">
                    <a:lnL>
                      <a:noFill/>
                    </a:lnL>
                    <a:lnR>
                      <a:noFill/>
                    </a:lnR>
                    <a:lnT>
                      <a:noFill/>
                    </a:lnT>
                    <a:lnB w="19050">
                      <a:solidFill>
                        <a:srgbClr val="16324F"/>
                      </a:solidFill>
                    </a:lnB>
                    <a:noFill/>
                  </a:tcPr>
                </a:tc>
              </a:tr>
              <a:tr h="533400">
                <a:tc>
                  <a:txBody>
                    <a:bodyPr wrap="square" rtlCol="0" anchor="ctr"/>
                    <a:lstStyle/>
                    <a:p>
                      <a:pPr algn="l"/>
                      <a:r>
                        <a:rPr lang="en-US" sz="1200" noProof="1">
                          <a:solidFill>
                            <a:srgbClr val="33404D"/>
                          </a:solidFill>
                          <a:latin typeface="Times New Roman"/>
                          <a:ea typeface="Times New Roman"/>
                        </a:rPr>
                        <a:t>API (nominal)</a:t>
                      </a:r>
                    </a:p>
                  </a:txBody>
                  <a:tcPr marL="91440" marR="91440" marT="45720" marB="45720" anchor="ctr">
                    <a:lnL>
                      <a:noFill/>
                    </a:lnL>
                    <a:lnR>
                      <a:noFill/>
                    </a:lnR>
                    <a:lnT>
                      <a:noFill/>
                    </a:lnT>
                    <a:lnB w="9525">
                      <a:solidFill>
                        <a:srgbClr val="D8DEE4"/>
                      </a:solidFill>
                    </a:lnB>
                    <a:noFill/>
                  </a:tcPr>
                </a:tc>
                <a:tc>
                  <a:txBody>
                    <a:bodyPr wrap="square" rtlCol="0" anchor="ctr"/>
                    <a:lstStyle/>
                    <a:p>
                      <a:pPr algn="l"/>
                      <a:r>
                        <a:rPr lang="en-US" sz="1200" noProof="1">
                          <a:solidFill>
                            <a:srgbClr val="33404D"/>
                          </a:solidFill>
                          <a:latin typeface="Times New Roman"/>
                          <a:ea typeface="Times New Roman"/>
                        </a:rPr>
                        <a:t>/health, /info, /predict : 0 ≤ score ≤ 1, cohérence score / décision au seuil 0,45</a:t>
                      </a:r>
                    </a:p>
                  </a:txBody>
                  <a:tcPr marL="91440" marR="91440" marT="45720" marB="45720" anchor="ctr">
                    <a:lnL>
                      <a:noFill/>
                    </a:lnL>
                    <a:lnR>
                      <a:noFill/>
                    </a:lnR>
                    <a:lnT>
                      <a:noFill/>
                    </a:lnT>
                    <a:lnB w="9525">
                      <a:solidFill>
                        <a:srgbClr val="D8DEE4"/>
                      </a:solidFill>
                    </a:lnB>
                    <a:noFill/>
                  </a:tcPr>
                </a:tc>
                <a:tc>
                  <a:txBody>
                    <a:bodyPr wrap="square" rtlCol="0" anchor="ctr"/>
                    <a:lstStyle/>
                    <a:p>
                      <a:pPr algn="ctr"/>
                      <a:r>
                        <a:rPr lang="en-US" sz="1200" noProof="1">
                          <a:solidFill>
                            <a:srgbClr val="33404D"/>
                          </a:solidFill>
                          <a:latin typeface="Times New Roman"/>
                          <a:ea typeface="Times New Roman"/>
                        </a:rPr>
                        <a:t>3</a:t>
                      </a:r>
                    </a:p>
                  </a:txBody>
                  <a:tcPr marL="91440" marR="91440" marT="45720" marB="45720" anchor="ctr">
                    <a:lnL>
                      <a:noFill/>
                    </a:lnL>
                    <a:lnR>
                      <a:noFill/>
                    </a:lnR>
                    <a:lnT>
                      <a:noFill/>
                    </a:lnT>
                    <a:lnB w="9525">
                      <a:solidFill>
                        <a:srgbClr val="D8DEE4"/>
                      </a:solidFill>
                    </a:lnB>
                    <a:noFill/>
                  </a:tcPr>
                </a:tc>
              </a:tr>
              <a:tr h="533400">
                <a:tc>
                  <a:txBody>
                    <a:bodyPr wrap="square" rtlCol="0" anchor="ctr"/>
                    <a:lstStyle/>
                    <a:p>
                      <a:pPr algn="l"/>
                      <a:r>
                        <a:rPr lang="en-US" sz="1200" noProof="1">
                          <a:solidFill>
                            <a:srgbClr val="33404D"/>
                          </a:solidFill>
                          <a:latin typeface="Times New Roman"/>
                          <a:ea typeface="Times New Roman"/>
                        </a:rPr>
                        <a:t>Validation (erreurs)</a:t>
                      </a:r>
                    </a:p>
                  </a:txBody>
                  <a:tcPr marL="91440" marR="91440" marT="45720" marB="45720" anchor="ctr">
                    <a:lnL>
                      <a:noFill/>
                    </a:lnL>
                    <a:lnR>
                      <a:noFill/>
                    </a:lnR>
                    <a:lnT>
                      <a:noFill/>
                    </a:lnT>
                    <a:lnB w="9525">
                      <a:solidFill>
                        <a:srgbClr val="D8DEE4"/>
                      </a:solidFill>
                    </a:lnB>
                    <a:noFill/>
                  </a:tcPr>
                </a:tc>
                <a:tc>
                  <a:txBody>
                    <a:bodyPr wrap="square" rtlCol="0" anchor="ctr"/>
                    <a:lstStyle/>
                    <a:p>
                      <a:pPr algn="l"/>
                      <a:r>
                        <a:rPr lang="en-US" sz="1200" noProof="1">
                          <a:solidFill>
                            <a:srgbClr val="33404D"/>
                          </a:solidFill>
                          <a:latin typeface="Times New Roman"/>
                          <a:ea typeface="Times New Roman"/>
                        </a:rPr>
                        <a:t>champ requis manquant, type texte, revenu = 0, âge ≈ 5 ans, EXT_SOURCE &gt; 1, clé inconnue, frontières DAYS_EMPLOYED</a:t>
                      </a:r>
                    </a:p>
                  </a:txBody>
                  <a:tcPr marL="91440" marR="91440" marT="45720" marB="45720" anchor="ctr">
                    <a:lnL>
                      <a:noFill/>
                    </a:lnL>
                    <a:lnR>
                      <a:noFill/>
                    </a:lnR>
                    <a:lnT>
                      <a:noFill/>
                    </a:lnT>
                    <a:lnB w="9525">
                      <a:solidFill>
                        <a:srgbClr val="D8DEE4"/>
                      </a:solidFill>
                    </a:lnB>
                    <a:noFill/>
                  </a:tcPr>
                </a:tc>
                <a:tc>
                  <a:txBody>
                    <a:bodyPr wrap="square" rtlCol="0" anchor="ctr"/>
                    <a:lstStyle/>
                    <a:p>
                      <a:pPr algn="ctr"/>
                      <a:r>
                        <a:rPr lang="en-US" sz="1200" noProof="1">
                          <a:solidFill>
                            <a:srgbClr val="33404D"/>
                          </a:solidFill>
                          <a:latin typeface="Times New Roman"/>
                          <a:ea typeface="Times New Roman"/>
                        </a:rPr>
                        <a:t>11</a:t>
                      </a:r>
                    </a:p>
                  </a:txBody>
                  <a:tcPr marL="91440" marR="91440" marT="45720" marB="45720" anchor="ctr">
                    <a:lnL>
                      <a:noFill/>
                    </a:lnL>
                    <a:lnR>
                      <a:noFill/>
                    </a:lnR>
                    <a:lnT>
                      <a:noFill/>
                    </a:lnT>
                    <a:lnB w="9525">
                      <a:solidFill>
                        <a:srgbClr val="D8DEE4"/>
                      </a:solidFill>
                    </a:lnB>
                    <a:noFill/>
                  </a:tcPr>
                </a:tc>
              </a:tr>
              <a:tr h="533400">
                <a:tc>
                  <a:txBody>
                    <a:bodyPr wrap="square" rtlCol="0" anchor="ctr"/>
                    <a:lstStyle/>
                    <a:p>
                      <a:pPr algn="l"/>
                      <a:r>
                        <a:rPr lang="en-US" sz="1200" noProof="1">
                          <a:solidFill>
                            <a:srgbClr val="33404D"/>
                          </a:solidFill>
                          <a:latin typeface="Times New Roman"/>
                          <a:ea typeface="Times New Roman"/>
                        </a:rPr>
                        <a:t>Moteur modèle</a:t>
                      </a:r>
                    </a:p>
                  </a:txBody>
                  <a:tcPr marL="91440" marR="91440" marT="45720" marB="45720" anchor="ctr">
                    <a:lnL>
                      <a:noFill/>
                    </a:lnL>
                    <a:lnR>
                      <a:noFill/>
                    </a:lnR>
                    <a:lnT>
                      <a:noFill/>
                    </a:lnT>
                    <a:lnB w="9525">
                      <a:solidFill>
                        <a:srgbClr val="D8DEE4"/>
                      </a:solidFill>
                    </a:lnB>
                    <a:noFill/>
                  </a:tcPr>
                </a:tc>
                <a:tc>
                  <a:txBody>
                    <a:bodyPr wrap="square" rtlCol="0" anchor="ctr"/>
                    <a:lstStyle/>
                    <a:p>
                      <a:pPr algn="l"/>
                      <a:r>
                        <a:rPr lang="en-US" sz="1200" noProof="1">
                          <a:solidFill>
                            <a:srgbClr val="33404D"/>
                          </a:solidFill>
                          <a:latin typeface="Times New Roman"/>
                          <a:ea typeface="Times New Roman"/>
                        </a:rPr>
                        <a:t>chargement unique au démarrage, NaN gérés, parité ONNX / sklearn (±1e-4), repli skops fonctionnel</a:t>
                      </a:r>
                    </a:p>
                  </a:txBody>
                  <a:tcPr marL="91440" marR="91440" marT="45720" marB="45720" anchor="ctr">
                    <a:lnL>
                      <a:noFill/>
                    </a:lnL>
                    <a:lnR>
                      <a:noFill/>
                    </a:lnR>
                    <a:lnT>
                      <a:noFill/>
                    </a:lnT>
                    <a:lnB w="9525">
                      <a:solidFill>
                        <a:srgbClr val="D8DEE4"/>
                      </a:solidFill>
                    </a:lnB>
                    <a:noFill/>
                  </a:tcPr>
                </a:tc>
                <a:tc>
                  <a:txBody>
                    <a:bodyPr wrap="square" rtlCol="0" anchor="ctr"/>
                    <a:lstStyle/>
                    <a:p>
                      <a:pPr algn="ctr"/>
                      <a:r>
                        <a:rPr lang="en-US" sz="1200" noProof="1">
                          <a:solidFill>
                            <a:srgbClr val="33404D"/>
                          </a:solidFill>
                          <a:latin typeface="Times New Roman"/>
                          <a:ea typeface="Times New Roman"/>
                        </a:rPr>
                        <a:t>7</a:t>
                      </a:r>
                    </a:p>
                  </a:txBody>
                  <a:tcPr marL="91440" marR="91440" marT="45720" marB="45720" anchor="ctr">
                    <a:lnL>
                      <a:noFill/>
                    </a:lnL>
                    <a:lnR>
                      <a:noFill/>
                    </a:lnR>
                    <a:lnT>
                      <a:noFill/>
                    </a:lnT>
                    <a:lnB w="9525">
                      <a:solidFill>
                        <a:srgbClr val="D8DEE4"/>
                      </a:solidFill>
                    </a:lnB>
                    <a:noFill/>
                  </a:tcPr>
                </a:tc>
              </a:tr>
              <a:tr h="533400">
                <a:tc>
                  <a:txBody>
                    <a:bodyPr wrap="square" rtlCol="0" anchor="ctr"/>
                    <a:lstStyle/>
                    <a:p>
                      <a:pPr algn="l"/>
                      <a:r>
                        <a:rPr lang="en-US" sz="1200" noProof="1">
                          <a:solidFill>
                            <a:srgbClr val="33404D"/>
                          </a:solidFill>
                          <a:latin typeface="Times New Roman"/>
                          <a:ea typeface="Times New Roman"/>
                        </a:rPr>
                        <a:t>Observabilité</a:t>
                      </a:r>
                    </a:p>
                  </a:txBody>
                  <a:tcPr marL="91440" marR="91440" marT="45720" marB="45720" anchor="ctr">
                    <a:lnL>
                      <a:noFill/>
                    </a:lnL>
                    <a:lnR>
                      <a:noFill/>
                    </a:lnR>
                    <a:lnT>
                      <a:noFill/>
                    </a:lnT>
                    <a:lnB w="9525">
                      <a:solidFill>
                        <a:srgbClr val="D8DEE4"/>
                      </a:solidFill>
                    </a:lnB>
                    <a:noFill/>
                  </a:tcPr>
                </a:tc>
                <a:tc>
                  <a:txBody>
                    <a:bodyPr wrap="square" rtlCol="0" anchor="ctr"/>
                    <a:lstStyle/>
                    <a:p>
                      <a:pPr algn="l"/>
                      <a:r>
                        <a:rPr lang="en-US" sz="1200" noProof="1">
                          <a:solidFill>
                            <a:srgbClr val="33404D"/>
                          </a:solidFill>
                          <a:latin typeface="Times New Roman"/>
                          <a:ea typeface="Times New Roman"/>
                        </a:rPr>
                        <a:t>chaque appel (200 et 422) écrit en base SQLite + miroir JSONL</a:t>
                      </a:r>
                    </a:p>
                  </a:txBody>
                  <a:tcPr marL="91440" marR="91440" marT="45720" marB="45720" anchor="ctr">
                    <a:lnL>
                      <a:noFill/>
                    </a:lnL>
                    <a:lnR>
                      <a:noFill/>
                    </a:lnR>
                    <a:lnT>
                      <a:noFill/>
                    </a:lnT>
                    <a:lnB w="9525">
                      <a:solidFill>
                        <a:srgbClr val="D8DEE4"/>
                      </a:solidFill>
                    </a:lnB>
                    <a:noFill/>
                  </a:tcPr>
                </a:tc>
                <a:tc>
                  <a:txBody>
                    <a:bodyPr wrap="square" rtlCol="0" anchor="ctr"/>
                    <a:lstStyle/>
                    <a:p>
                      <a:pPr algn="ctr"/>
                      <a:r>
                        <a:rPr lang="en-US" sz="1200" noProof="1">
                          <a:solidFill>
                            <a:srgbClr val="33404D"/>
                          </a:solidFill>
                          <a:latin typeface="Times New Roman"/>
                          <a:ea typeface="Times New Roman"/>
                        </a:rPr>
                        <a:t>(intégré)</a:t>
                      </a:r>
                    </a:p>
                  </a:txBody>
                  <a:tcPr marL="91440" marR="91440" marT="45720" marB="45720" anchor="ctr">
                    <a:lnL>
                      <a:noFill/>
                    </a:lnL>
                    <a:lnR>
                      <a:noFill/>
                    </a:lnR>
                    <a:lnT>
                      <a:noFill/>
                    </a:lnT>
                    <a:lnB w="9525">
                      <a:solidFill>
                        <a:srgbClr val="D8DEE4"/>
                      </a:solidFill>
                    </a:lnB>
                    <a:noFill/>
                  </a:tcPr>
                </a:tc>
              </a:tr>
            </a:tbl>
          </a:graphicData>
        </a:graphic>
      </p:graphicFrame>
      <p:sp>
        <p:nvSpPr>
          <p:cNvPr id="6" name="note-icon"/>
          <p:cNvSpPr/>
          <p:nvPr>
            <p:extLst>
              <p:ext uri="{F5677B7D-0D2A-4D9B-9A5C-6D8D7D0E5A5D}">
                <pptd:icon encoding="base64url">eyJpY29uTmFtZSI6ImZhczpzaGllbGQtaGFsdmVkIn0</pptd:icon>
              </p:ext>
            </p:extLst>
          </p:nvPr>
        </p:nvSpPr>
        <p:spPr>
          <a:xfrm>
            <a:off x="711200" y="4445000"/>
            <a:ext cx="228600" cy="228600"/>
          </a:xfrm>
          <a:custGeom>
            <a:avLst/>
            <a:gdLst/>
            <a:ahLst/>
            <a:cxnLst/>
            <a:rect l="l" t="t" r="r" b="b"/>
            <a:pathLst>
              <a:path w="512" h="512">
                <a:moveTo>
                  <a:pt x="256" y="0"/>
                </a:moveTo>
                <a:cubicBezTo>
                  <a:pt x="261" y="0"/>
                  <a:pt x="265" y="1"/>
                  <a:pt x="269" y="3"/>
                </a:cubicBezTo>
                <a:lnTo>
                  <a:pt x="458" y="83"/>
                </a:lnTo>
                <a:cubicBezTo>
                  <a:pt x="480" y="92"/>
                  <a:pt x="496" y="114"/>
                  <a:pt x="496" y="140"/>
                </a:cubicBezTo>
                <a:cubicBezTo>
                  <a:pt x="496" y="239"/>
                  <a:pt x="455" y="421"/>
                  <a:pt x="283" y="503"/>
                </a:cubicBezTo>
                <a:cubicBezTo>
                  <a:pt x="266" y="511"/>
                  <a:pt x="246" y="511"/>
                  <a:pt x="230" y="503"/>
                </a:cubicBezTo>
                <a:cubicBezTo>
                  <a:pt x="57" y="421"/>
                  <a:pt x="17" y="239"/>
                  <a:pt x="16" y="140"/>
                </a:cubicBezTo>
                <a:cubicBezTo>
                  <a:pt x="16" y="114"/>
                  <a:pt x="32" y="92"/>
                  <a:pt x="54" y="83"/>
                </a:cubicBezTo>
                <a:lnTo>
                  <a:pt x="243" y="3"/>
                </a:lnTo>
                <a:cubicBezTo>
                  <a:pt x="247" y="1"/>
                  <a:pt x="251" y="0"/>
                  <a:pt x="256" y="0"/>
                </a:cubicBezTo>
                <a:close/>
                <a:moveTo>
                  <a:pt x="256" y="67"/>
                </a:moveTo>
                <a:lnTo>
                  <a:pt x="256" y="445"/>
                </a:lnTo>
                <a:cubicBezTo>
                  <a:pt x="394" y="378"/>
                  <a:pt x="431" y="230"/>
                  <a:pt x="432" y="142"/>
                </a:cubicBezTo>
                <a:lnTo>
                  <a:pt x="256" y="67"/>
                </a:lnTo>
                <a:lnTo>
                  <a:pt x="256" y="67"/>
                </a:lnTo>
                <a:close/>
              </a:path>
            </a:pathLst>
          </a:custGeom>
          <a:solidFill>
            <a:srgbClr val="C96A1B"/>
          </a:solidFill>
          <a:ln>
            <a:noFill/>
          </a:ln>
        </p:spPr>
      </p:sp>
      <p:sp>
        <p:nvSpPr>
          <p:cNvPr id="7" name="note"/>
          <p:cNvSpPr txBox="1"/>
          <p:nvPr/>
        </p:nvSpPr>
        <p:spPr>
          <a:xfrm>
            <a:off x="1117600" y="4394200"/>
            <a:ext cx="10363200" cy="1524000"/>
          </a:xfrm>
          <a:prstGeom prst="rect">
            <a:avLst/>
          </a:prstGeom>
          <a:noFill/>
          <a:ln>
            <a:noFill/>
          </a:ln>
        </p:spPr>
        <p:txBody>
          <a:bodyPr lIns="0" rIns="0" tIns="0" bIns="0" wrap="square" rtlCol="0"/>
          <a:lstStyle/>
          <a:p>
            <a:pPr>
              <a:lnSpc>
                <a:spcPct val="145000"/>
              </a:lnSpc>
            </a:pPr>
            <a:r>
              <a:rPr lang="en-US" sz="1300" noProof="1" b="1">
                <a:solidFill>
                  <a:srgbClr val="33404D"/>
                </a:solidFill>
                <a:latin typeface="MiSans"/>
                <a:ea typeface="MiSans"/>
              </a:rPr>
              <a:t>Gestion des erreurs à tous les niveaux :</a:t>
            </a:r>
            <a:r>
              <a:rPr lang="en-US" sz="1300" noProof="1">
                <a:solidFill>
                  <a:srgbClr val="33404D"/>
                </a:solidFill>
                <a:latin typeface="MiSans"/>
                <a:ea typeface="MiSans"/>
              </a:rPr>
              <a:t> entrée invalide → 422 avec détail du champ en faute ; erreur interne → 500 loggée ; modèle ONNX indisponible → repli automatique LightGBM (warning tracé) ; base de logs redirigée vers un dossier temporaire pendant les tests pour ne pas polluer la production.</a:t>
            </a:r>
            <a:endParaRPr lang="en-US" sz="1300" noProof="1"/>
          </a:p>
          <a:p>
            <a:pPr>
              <a:lnSpc>
                <a:spcPct val="145000"/>
              </a:lnSpc>
              <a:spcBef>
                <a:spcPts val="1000"/>
              </a:spcBef>
            </a:pPr>
            <a:r>
              <a:rPr lang="en-US" sz="1300" noProof="1">
                <a:solidFill>
                  <a:srgbClr val="33404D"/>
                </a:solidFill>
                <a:latin typeface="MiSans"/>
                <a:ea typeface="MiSans"/>
              </a:rPr>
              <a:t>La suite s'exécute à chaque push via le pipeline CI — </a:t>
            </a:r>
            <a:r>
              <a:rPr lang="en-US" sz="1300" noProof="1" b="1">
                <a:solidFill>
                  <a:srgbClr val="33404D"/>
                </a:solidFill>
                <a:latin typeface="MiSans"/>
                <a:ea typeface="MiSans"/>
              </a:rPr>
              <a:t>aucun build Docker sans tests verts</a:t>
            </a:r>
            <a:r>
              <a:rPr lang="en-US" sz="1300" noProof="1">
                <a:solidFill>
                  <a:srgbClr val="33404D"/>
                </a:solidFill>
                <a:latin typeface="MiSans"/>
                <a:ea typeface="MiSans"/>
              </a:rPr>
              <a:t>.</a:t>
            </a:r>
            <a:endParaRPr lang="en-US" sz="1300" noProof="1"/>
          </a:p>
        </p:txBody>
      </p:sp>
      <p:sp>
        <p:nvSpPr>
          <p:cNvPr id="8"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9"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06</a:t>
            </a:r>
            <a:endParaRPr lang="en-US" sz="1100" noProof="1"/>
          </a:p>
        </p:txBody>
      </p:sp>
    </p:spTree>
  </p:cSld>
  <p:clrMapOvr>
    <a:masterClrMapping/>
  </p:clrMapOvr>
</p:sld>
</file>

<file path=ppt/slides/slide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CI/CD : chaque push sur main teste, construit l'image et déploie</a:t>
            </a:r>
            <a:endParaRPr lang="en-US" sz="2600" noProof="1"/>
          </a:p>
        </p:txBody>
      </p:sp>
      <p:sp>
        <p:nvSpPr>
          <p:cNvPr id="4" name="trig-icon"/>
          <p:cNvSpPr/>
          <p:nvPr>
            <p:extLst>
              <p:ext uri="{F5677B7D-0D2A-4D9B-9A5C-6D8D7D0E5A5D}">
                <pptd:icon encoding="base64url">eyJpY29uTmFtZSI6ImZhYjpnaXRodWIifQ</pptd:icon>
              </p:ext>
            </p:extLst>
          </p:nvPr>
        </p:nvSpPr>
        <p:spPr>
          <a:xfrm>
            <a:off x="711200" y="1625600"/>
            <a:ext cx="279400" cy="279400"/>
          </a:xfrm>
          <a:custGeom>
            <a:avLst/>
            <a:gdLst/>
            <a:ahLst/>
            <a:cxnLst/>
            <a:rect l="l" t="t" r="r" b="b"/>
            <a:pathLst>
              <a:path w="512" h="512">
                <a:moveTo>
                  <a:pt x="174" y="397"/>
                </a:moveTo>
                <a:cubicBezTo>
                  <a:pt x="174" y="399"/>
                  <a:pt x="172" y="401"/>
                  <a:pt x="169" y="401"/>
                </a:cubicBezTo>
                <a:cubicBezTo>
                  <a:pt x="165" y="401"/>
                  <a:pt x="163" y="400"/>
                  <a:pt x="163" y="397"/>
                </a:cubicBezTo>
                <a:cubicBezTo>
                  <a:pt x="163" y="395"/>
                  <a:pt x="165" y="394"/>
                  <a:pt x="168" y="394"/>
                </a:cubicBezTo>
                <a:cubicBezTo>
                  <a:pt x="171" y="393"/>
                  <a:pt x="174" y="395"/>
                  <a:pt x="174" y="397"/>
                </a:cubicBezTo>
                <a:close/>
              </a:path>
              <a:path w="512" h="512">
                <a:moveTo>
                  <a:pt x="143" y="393"/>
                </a:moveTo>
                <a:cubicBezTo>
                  <a:pt x="142" y="395"/>
                  <a:pt x="144" y="397"/>
                  <a:pt x="147" y="398"/>
                </a:cubicBezTo>
                <a:cubicBezTo>
                  <a:pt x="150" y="399"/>
                  <a:pt x="153" y="398"/>
                  <a:pt x="153" y="396"/>
                </a:cubicBezTo>
                <a:cubicBezTo>
                  <a:pt x="154" y="394"/>
                  <a:pt x="152" y="391"/>
                  <a:pt x="149" y="391"/>
                </a:cubicBezTo>
                <a:cubicBezTo>
                  <a:pt x="146" y="390"/>
                  <a:pt x="144" y="391"/>
                  <a:pt x="143" y="393"/>
                </a:cubicBezTo>
                <a:close/>
              </a:path>
              <a:path w="512" h="512">
                <a:moveTo>
                  <a:pt x="187" y="391"/>
                </a:moveTo>
                <a:cubicBezTo>
                  <a:pt x="184" y="392"/>
                  <a:pt x="182" y="394"/>
                  <a:pt x="182" y="396"/>
                </a:cubicBezTo>
                <a:cubicBezTo>
                  <a:pt x="183" y="398"/>
                  <a:pt x="185" y="399"/>
                  <a:pt x="188" y="399"/>
                </a:cubicBezTo>
                <a:cubicBezTo>
                  <a:pt x="191" y="398"/>
                  <a:pt x="193" y="396"/>
                  <a:pt x="193" y="394"/>
                </a:cubicBezTo>
                <a:cubicBezTo>
                  <a:pt x="193" y="392"/>
                  <a:pt x="190" y="391"/>
                  <a:pt x="187" y="391"/>
                </a:cubicBezTo>
                <a:close/>
              </a:path>
              <a:path w="512" h="512">
                <a:moveTo>
                  <a:pt x="253" y="8"/>
                </a:moveTo>
                <a:cubicBezTo>
                  <a:pt x="114" y="8"/>
                  <a:pt x="8" y="113"/>
                  <a:pt x="8" y="252"/>
                </a:cubicBezTo>
                <a:cubicBezTo>
                  <a:pt x="8" y="363"/>
                  <a:pt x="78" y="458"/>
                  <a:pt x="178" y="491"/>
                </a:cubicBezTo>
                <a:cubicBezTo>
                  <a:pt x="190" y="494"/>
                  <a:pt x="195" y="486"/>
                  <a:pt x="195" y="479"/>
                </a:cubicBezTo>
                <a:cubicBezTo>
                  <a:pt x="195" y="473"/>
                  <a:pt x="195" y="439"/>
                  <a:pt x="195" y="418"/>
                </a:cubicBezTo>
                <a:cubicBezTo>
                  <a:pt x="195" y="418"/>
                  <a:pt x="125" y="433"/>
                  <a:pt x="110" y="388"/>
                </a:cubicBezTo>
                <a:cubicBezTo>
                  <a:pt x="110" y="388"/>
                  <a:pt x="98" y="359"/>
                  <a:pt x="82" y="351"/>
                </a:cubicBezTo>
                <a:cubicBezTo>
                  <a:pt x="82" y="351"/>
                  <a:pt x="59" y="336"/>
                  <a:pt x="84" y="336"/>
                </a:cubicBezTo>
                <a:cubicBezTo>
                  <a:pt x="84" y="336"/>
                  <a:pt x="109" y="338"/>
                  <a:pt x="122" y="362"/>
                </a:cubicBezTo>
                <a:cubicBezTo>
                  <a:pt x="144" y="400"/>
                  <a:pt x="181" y="389"/>
                  <a:pt x="195" y="383"/>
                </a:cubicBezTo>
                <a:cubicBezTo>
                  <a:pt x="197" y="367"/>
                  <a:pt x="204" y="355"/>
                  <a:pt x="211" y="349"/>
                </a:cubicBezTo>
                <a:cubicBezTo>
                  <a:pt x="155" y="343"/>
                  <a:pt x="99" y="335"/>
                  <a:pt x="99" y="238"/>
                </a:cubicBezTo>
                <a:cubicBezTo>
                  <a:pt x="99" y="211"/>
                  <a:pt x="106" y="197"/>
                  <a:pt x="122" y="179"/>
                </a:cubicBezTo>
                <a:cubicBezTo>
                  <a:pt x="120" y="173"/>
                  <a:pt x="111" y="146"/>
                  <a:pt x="125" y="112"/>
                </a:cubicBezTo>
                <a:cubicBezTo>
                  <a:pt x="146" y="105"/>
                  <a:pt x="194" y="139"/>
                  <a:pt x="194" y="139"/>
                </a:cubicBezTo>
                <a:cubicBezTo>
                  <a:pt x="214" y="133"/>
                  <a:pt x="236" y="130"/>
                  <a:pt x="257" y="130"/>
                </a:cubicBezTo>
                <a:cubicBezTo>
                  <a:pt x="278" y="130"/>
                  <a:pt x="300" y="133"/>
                  <a:pt x="320" y="139"/>
                </a:cubicBezTo>
                <a:cubicBezTo>
                  <a:pt x="320" y="139"/>
                  <a:pt x="368" y="105"/>
                  <a:pt x="389" y="112"/>
                </a:cubicBezTo>
                <a:cubicBezTo>
                  <a:pt x="402" y="146"/>
                  <a:pt x="394" y="173"/>
                  <a:pt x="391" y="179"/>
                </a:cubicBezTo>
                <a:cubicBezTo>
                  <a:pt x="407" y="197"/>
                  <a:pt x="417" y="211"/>
                  <a:pt x="417" y="238"/>
                </a:cubicBezTo>
                <a:cubicBezTo>
                  <a:pt x="417" y="335"/>
                  <a:pt x="358" y="343"/>
                  <a:pt x="302" y="349"/>
                </a:cubicBezTo>
                <a:cubicBezTo>
                  <a:pt x="311" y="357"/>
                  <a:pt x="319" y="372"/>
                  <a:pt x="319" y="395"/>
                </a:cubicBezTo>
                <a:cubicBezTo>
                  <a:pt x="319" y="429"/>
                  <a:pt x="319" y="471"/>
                  <a:pt x="319" y="479"/>
                </a:cubicBezTo>
                <a:cubicBezTo>
                  <a:pt x="319" y="485"/>
                  <a:pt x="324" y="493"/>
                  <a:pt x="336" y="491"/>
                </a:cubicBezTo>
                <a:cubicBezTo>
                  <a:pt x="436" y="458"/>
                  <a:pt x="504" y="363"/>
                  <a:pt x="504" y="252"/>
                </a:cubicBezTo>
                <a:cubicBezTo>
                  <a:pt x="504" y="113"/>
                  <a:pt x="392" y="8"/>
                  <a:pt x="253" y="8"/>
                </a:cubicBezTo>
                <a:close/>
              </a:path>
              <a:path w="512" h="512">
                <a:moveTo>
                  <a:pt x="105" y="353"/>
                </a:moveTo>
                <a:cubicBezTo>
                  <a:pt x="104" y="354"/>
                  <a:pt x="104" y="356"/>
                  <a:pt x="106" y="358"/>
                </a:cubicBezTo>
                <a:cubicBezTo>
                  <a:pt x="108" y="360"/>
                  <a:pt x="110" y="360"/>
                  <a:pt x="111" y="359"/>
                </a:cubicBezTo>
                <a:cubicBezTo>
                  <a:pt x="112" y="358"/>
                  <a:pt x="112" y="356"/>
                  <a:pt x="110" y="354"/>
                </a:cubicBezTo>
                <a:cubicBezTo>
                  <a:pt x="109" y="352"/>
                  <a:pt x="107" y="352"/>
                  <a:pt x="105" y="353"/>
                </a:cubicBezTo>
                <a:close/>
              </a:path>
              <a:path w="512" h="512">
                <a:moveTo>
                  <a:pt x="94" y="345"/>
                </a:moveTo>
                <a:cubicBezTo>
                  <a:pt x="94" y="346"/>
                  <a:pt x="95" y="348"/>
                  <a:pt x="97" y="349"/>
                </a:cubicBezTo>
                <a:cubicBezTo>
                  <a:pt x="98" y="350"/>
                  <a:pt x="100" y="349"/>
                  <a:pt x="101" y="348"/>
                </a:cubicBezTo>
                <a:cubicBezTo>
                  <a:pt x="102" y="347"/>
                  <a:pt x="101" y="345"/>
                  <a:pt x="99" y="344"/>
                </a:cubicBezTo>
                <a:cubicBezTo>
                  <a:pt x="97" y="343"/>
                  <a:pt x="95" y="344"/>
                  <a:pt x="94" y="345"/>
                </a:cubicBezTo>
                <a:close/>
              </a:path>
              <a:path w="512" h="512">
                <a:moveTo>
                  <a:pt x="127" y="380"/>
                </a:moveTo>
                <a:cubicBezTo>
                  <a:pt x="125" y="382"/>
                  <a:pt x="126" y="385"/>
                  <a:pt x="128" y="387"/>
                </a:cubicBezTo>
                <a:cubicBezTo>
                  <a:pt x="130" y="389"/>
                  <a:pt x="133" y="389"/>
                  <a:pt x="135" y="388"/>
                </a:cubicBezTo>
                <a:cubicBezTo>
                  <a:pt x="136" y="386"/>
                  <a:pt x="135" y="383"/>
                  <a:pt x="133" y="381"/>
                </a:cubicBezTo>
                <a:cubicBezTo>
                  <a:pt x="131" y="379"/>
                  <a:pt x="128" y="379"/>
                  <a:pt x="127" y="380"/>
                </a:cubicBezTo>
                <a:close/>
              </a:path>
              <a:path w="512" h="512">
                <a:moveTo>
                  <a:pt x="115" y="366"/>
                </a:moveTo>
                <a:cubicBezTo>
                  <a:pt x="114" y="367"/>
                  <a:pt x="114" y="369"/>
                  <a:pt x="115" y="372"/>
                </a:cubicBezTo>
                <a:cubicBezTo>
                  <a:pt x="117" y="374"/>
                  <a:pt x="120" y="375"/>
                  <a:pt x="121" y="374"/>
                </a:cubicBezTo>
                <a:cubicBezTo>
                  <a:pt x="123" y="373"/>
                  <a:pt x="123" y="370"/>
                  <a:pt x="121" y="368"/>
                </a:cubicBezTo>
                <a:cubicBezTo>
                  <a:pt x="120" y="365"/>
                  <a:pt x="117" y="364"/>
                  <a:pt x="115" y="366"/>
                </a:cubicBezTo>
                <a:close/>
              </a:path>
            </a:pathLst>
          </a:custGeom>
          <a:solidFill>
            <a:srgbClr val="16324F"/>
          </a:solidFill>
          <a:ln>
            <a:noFill/>
          </a:ln>
        </p:spPr>
      </p:sp>
      <p:sp>
        <p:nvSpPr>
          <p:cNvPr id="5" name="trig"/>
          <p:cNvSpPr txBox="1"/>
          <p:nvPr/>
        </p:nvSpPr>
        <p:spPr>
          <a:xfrm>
            <a:off x="1117600" y="1600200"/>
            <a:ext cx="3810000" cy="635000"/>
          </a:xfrm>
          <a:prstGeom prst="rect">
            <a:avLst/>
          </a:prstGeom>
          <a:noFill/>
          <a:ln>
            <a:noFill/>
          </a:ln>
        </p:spPr>
        <p:txBody>
          <a:bodyPr lIns="0" rIns="0" tIns="0" bIns="0" wrap="square" rtlCol="0"/>
          <a:lstStyle/>
          <a:p>
            <a:pPr>
              <a:lnSpc>
                <a:spcPct val="145000"/>
              </a:lnSpc>
            </a:pPr>
            <a:r>
              <a:rPr lang="en-US" sz="1250" noProof="1" b="1">
                <a:solidFill>
                  <a:srgbClr val="33404D"/>
                </a:solidFill>
                <a:latin typeface="MiSans"/>
                <a:ea typeface="MiSans"/>
              </a:rPr>
              <a:t>Déclencheur</a:t>
            </a:r>
            <a:endParaRPr lang="en-US" sz="1250" noProof="1"/>
          </a:p>
          <a:p>
            <a:pPr>
              <a:lnSpc>
                <a:spcPct val="145000"/>
              </a:lnSpc>
            </a:pPr>
            <a:r>
              <a:rPr lang="en-US" sz="1150" noProof="1">
                <a:solidFill>
                  <a:srgbClr val="6B7683"/>
                </a:solidFill>
                <a:latin typeface="MiSans"/>
                <a:ea typeface="MiSans"/>
              </a:rPr>
              <a:t>push / pull request sur main</a:t>
            </a:r>
            <a:endParaRPr lang="en-US" sz="1250" noProof="1"/>
          </a:p>
        </p:txBody>
      </p:sp>
      <p:sp>
        <p:nvSpPr>
          <p:cNvPr id="6" name="a0"/>
          <p:cNvSpPr/>
          <p:nvPr>
            <p:extLst>
              <p:ext uri="{F5677B7D-0D2A-4D9B-9A5C-6D8D7D0E5A5D}">
                <pptd:line encoding="base64url">eyJ2aWV3Qm94IjpbNDAsMTZdLCJwb2ludHMiOiIwLDggNDAsOCJ9</pptd:line>
              </p:ext>
            </p:extLst>
          </p:nvPr>
        </p:nvSpPr>
        <p:spPr>
          <a:xfrm>
            <a:off x="4927600" y="1778000"/>
            <a:ext cx="508000" cy="203200"/>
          </a:xfrm>
          <a:custGeom>
            <a:avLst/>
            <a:gdLst/>
            <a:ahLst/>
            <a:cxnLst/>
            <a:rect l="l" t="t" r="r" b="b"/>
            <a:pathLst>
              <a:path w="40" h="16">
                <a:moveTo>
                  <a:pt x="0" y="8"/>
                </a:moveTo>
                <a:lnTo>
                  <a:pt x="40" y="8"/>
                </a:lnTo>
              </a:path>
            </a:pathLst>
          </a:custGeom>
          <a:noFill/>
          <a:ln w="25400" cap="rnd">
            <a:solidFill>
              <a:srgbClr val="C96A1B"/>
            </a:solidFill>
            <a:round/>
            <a:tailEnd type="arrow"/>
          </a:ln>
        </p:spPr>
      </p:sp>
      <p:sp>
        <p:nvSpPr>
          <p:cNvPr id="7" name="job1"/>
          <p:cNvSpPr/>
          <p:nvPr/>
        </p:nvSpPr>
        <p:spPr>
          <a:xfrm>
            <a:off x="5435600" y="1397000"/>
            <a:ext cx="1778000" cy="965200"/>
          </a:xfrm>
          <a:prstGeom prst="rect">
            <a:avLst/>
          </a:prstGeom>
          <a:solidFill>
            <a:srgbClr val="FFFFFF"/>
          </a:solidFill>
          <a:ln w="19050">
            <a:solidFill>
              <a:srgbClr val="16324F"/>
            </a:solidFill>
          </a:ln>
        </p:spPr>
      </p:sp>
      <p:sp>
        <p:nvSpPr>
          <p:cNvPr id="8" name="job1-t"/>
          <p:cNvSpPr txBox="1"/>
          <p:nvPr/>
        </p:nvSpPr>
        <p:spPr>
          <a:xfrm>
            <a:off x="5588000" y="1524000"/>
            <a:ext cx="1473200" cy="711200"/>
          </a:xfrm>
          <a:prstGeom prst="rect">
            <a:avLst/>
          </a:prstGeom>
          <a:noFill/>
          <a:ln>
            <a:noFill/>
          </a:ln>
        </p:spPr>
        <p:txBody>
          <a:bodyPr lIns="0" rIns="0" tIns="0" bIns="0" wrap="square" rtlCol="0"/>
          <a:lstStyle/>
          <a:p>
            <a:pPr>
              <a:lnSpc>
                <a:spcPct val="120000"/>
              </a:lnSpc>
            </a:pPr>
            <a:r>
              <a:rPr lang="en-US" sz="1200" noProof="1" b="1">
                <a:solidFill>
                  <a:srgbClr val="16324F"/>
                </a:solidFill>
                <a:latin typeface="MiSans"/>
                <a:ea typeface="MiSans"/>
              </a:rPr>
              <a:t>1 · test</a:t>
            </a:r>
            <a:endParaRPr lang="en-US" sz="1200" noProof="1"/>
          </a:p>
          <a:p>
            <a:pPr>
              <a:lnSpc>
                <a:spcPct val="120000"/>
              </a:lnSpc>
              <a:spcBef>
                <a:spcPts val="300"/>
              </a:spcBef>
            </a:pPr>
            <a:r>
              <a:rPr lang="en-US" sz="1050" noProof="1">
                <a:solidFill>
                  <a:srgbClr val="6B7683"/>
                </a:solidFill>
                <a:latin typeface="MiSans"/>
                <a:ea typeface="MiSans"/>
              </a:rPr>
              <a:t>Python 3.12 · pytest (21 tests)</a:t>
            </a:r>
            <a:endParaRPr lang="en-US" sz="1200" noProof="1"/>
          </a:p>
        </p:txBody>
      </p:sp>
      <p:sp>
        <p:nvSpPr>
          <p:cNvPr id="9" name="a1"/>
          <p:cNvSpPr/>
          <p:nvPr>
            <p:extLst>
              <p:ext uri="{F5677B7D-0D2A-4D9B-9A5C-6D8D7D0E5A5D}">
                <pptd:line encoding="base64url">eyJ2aWV3Qm94IjpbNDAsMTZdLCJwb2ludHMiOiIwLDggNDAsOCJ9</pptd:line>
              </p:ext>
            </p:extLst>
          </p:nvPr>
        </p:nvSpPr>
        <p:spPr>
          <a:xfrm>
            <a:off x="7213600" y="1778000"/>
            <a:ext cx="508000" cy="203200"/>
          </a:xfrm>
          <a:custGeom>
            <a:avLst/>
            <a:gdLst/>
            <a:ahLst/>
            <a:cxnLst/>
            <a:rect l="l" t="t" r="r" b="b"/>
            <a:pathLst>
              <a:path w="40" h="16">
                <a:moveTo>
                  <a:pt x="0" y="8"/>
                </a:moveTo>
                <a:lnTo>
                  <a:pt x="40" y="8"/>
                </a:lnTo>
              </a:path>
            </a:pathLst>
          </a:custGeom>
          <a:noFill/>
          <a:ln w="25400" cap="rnd">
            <a:solidFill>
              <a:srgbClr val="C96A1B"/>
            </a:solidFill>
            <a:round/>
            <a:tailEnd type="arrow"/>
          </a:ln>
        </p:spPr>
      </p:sp>
      <p:sp>
        <p:nvSpPr>
          <p:cNvPr id="10" name="job2"/>
          <p:cNvSpPr/>
          <p:nvPr/>
        </p:nvSpPr>
        <p:spPr>
          <a:xfrm>
            <a:off x="7721600" y="1397000"/>
            <a:ext cx="1778000" cy="965200"/>
          </a:xfrm>
          <a:prstGeom prst="rect">
            <a:avLst/>
          </a:prstGeom>
          <a:solidFill>
            <a:srgbClr val="FFFFFF"/>
          </a:solidFill>
          <a:ln w="19050">
            <a:solidFill>
              <a:srgbClr val="16324F"/>
            </a:solidFill>
          </a:ln>
        </p:spPr>
      </p:sp>
      <p:sp>
        <p:nvSpPr>
          <p:cNvPr id="11" name="job2-t"/>
          <p:cNvSpPr txBox="1"/>
          <p:nvPr/>
        </p:nvSpPr>
        <p:spPr>
          <a:xfrm>
            <a:off x="7874000" y="1524000"/>
            <a:ext cx="1473200" cy="711200"/>
          </a:xfrm>
          <a:prstGeom prst="rect">
            <a:avLst/>
          </a:prstGeom>
          <a:noFill/>
          <a:ln>
            <a:noFill/>
          </a:ln>
        </p:spPr>
        <p:txBody>
          <a:bodyPr lIns="0" rIns="0" tIns="0" bIns="0" wrap="square" rtlCol="0"/>
          <a:lstStyle/>
          <a:p>
            <a:pPr>
              <a:lnSpc>
                <a:spcPct val="120000"/>
              </a:lnSpc>
            </a:pPr>
            <a:r>
              <a:rPr lang="en-US" sz="1200" noProof="1" b="1">
                <a:solidFill>
                  <a:srgbClr val="16324F"/>
                </a:solidFill>
                <a:latin typeface="MiSans"/>
                <a:ea typeface="MiSans"/>
              </a:rPr>
              <a:t>2 · docker-build</a:t>
            </a:r>
            <a:endParaRPr lang="en-US" sz="1200" noProof="1"/>
          </a:p>
          <a:p>
            <a:pPr>
              <a:lnSpc>
                <a:spcPct val="120000"/>
              </a:lnSpc>
              <a:spcBef>
                <a:spcPts val="300"/>
              </a:spcBef>
            </a:pPr>
            <a:r>
              <a:rPr lang="en-US" sz="1050" noProof="1">
                <a:solidFill>
                  <a:srgbClr val="6B7683"/>
                </a:solidFill>
                <a:latin typeface="MiSans"/>
                <a:ea typeface="MiSans"/>
              </a:rPr>
              <a:t>image api:sha — seulement si tests verts</a:t>
            </a:r>
            <a:endParaRPr lang="en-US" sz="1200" noProof="1"/>
          </a:p>
        </p:txBody>
      </p:sp>
      <p:sp>
        <p:nvSpPr>
          <p:cNvPr id="12" name="a2"/>
          <p:cNvSpPr/>
          <p:nvPr>
            <p:extLst>
              <p:ext uri="{F5677B7D-0D2A-4D9B-9A5C-6D8D7D0E5A5D}">
                <pptd:line encoding="base64url">eyJ2aWV3Qm94IjpbNDAsMTZdLCJwb2ludHMiOiIwLDggNDAsOCJ9</pptd:line>
              </p:ext>
            </p:extLst>
          </p:nvPr>
        </p:nvSpPr>
        <p:spPr>
          <a:xfrm>
            <a:off x="9499600" y="1778000"/>
            <a:ext cx="508000" cy="203200"/>
          </a:xfrm>
          <a:custGeom>
            <a:avLst/>
            <a:gdLst/>
            <a:ahLst/>
            <a:cxnLst/>
            <a:rect l="l" t="t" r="r" b="b"/>
            <a:pathLst>
              <a:path w="40" h="16">
                <a:moveTo>
                  <a:pt x="0" y="8"/>
                </a:moveTo>
                <a:lnTo>
                  <a:pt x="40" y="8"/>
                </a:lnTo>
              </a:path>
            </a:pathLst>
          </a:custGeom>
          <a:noFill/>
          <a:ln w="25400" cap="rnd">
            <a:solidFill>
              <a:srgbClr val="C96A1B"/>
            </a:solidFill>
            <a:round/>
            <a:tailEnd type="arrow"/>
          </a:ln>
        </p:spPr>
      </p:sp>
      <p:sp>
        <p:nvSpPr>
          <p:cNvPr id="13" name="job3"/>
          <p:cNvSpPr/>
          <p:nvPr/>
        </p:nvSpPr>
        <p:spPr>
          <a:xfrm>
            <a:off x="10007600" y="1397000"/>
            <a:ext cx="1778000" cy="965200"/>
          </a:xfrm>
          <a:prstGeom prst="rect">
            <a:avLst/>
          </a:prstGeom>
          <a:solidFill>
            <a:srgbClr val="16324F"/>
          </a:solidFill>
          <a:ln>
            <a:noFill/>
          </a:ln>
        </p:spPr>
      </p:sp>
      <p:sp>
        <p:nvSpPr>
          <p:cNvPr id="14" name="job3-t"/>
          <p:cNvSpPr txBox="1"/>
          <p:nvPr/>
        </p:nvSpPr>
        <p:spPr>
          <a:xfrm>
            <a:off x="10160000" y="1524000"/>
            <a:ext cx="1473200" cy="711200"/>
          </a:xfrm>
          <a:prstGeom prst="rect">
            <a:avLst/>
          </a:prstGeom>
          <a:noFill/>
          <a:ln>
            <a:noFill/>
          </a:ln>
        </p:spPr>
        <p:txBody>
          <a:bodyPr lIns="0" rIns="0" tIns="0" bIns="0" wrap="square" rtlCol="0"/>
          <a:lstStyle/>
          <a:p>
            <a:pPr>
              <a:lnSpc>
                <a:spcPct val="120000"/>
              </a:lnSpc>
            </a:pPr>
            <a:r>
              <a:rPr lang="en-US" sz="1200" noProof="1" b="1">
                <a:solidFill>
                  <a:srgbClr val="FFFFFF"/>
                </a:solidFill>
                <a:latin typeface="MiSans"/>
                <a:ea typeface="MiSans"/>
              </a:rPr>
              <a:t>3 · deploy</a:t>
            </a:r>
            <a:endParaRPr lang="en-US" sz="1200" noProof="1"/>
          </a:p>
          <a:p>
            <a:pPr>
              <a:lnSpc>
                <a:spcPct val="120000"/>
              </a:lnSpc>
              <a:spcBef>
                <a:spcPts val="300"/>
              </a:spcBef>
            </a:pPr>
            <a:r>
              <a:rPr lang="en-US" sz="1050" noProof="1">
                <a:solidFill>
                  <a:srgbClr val="C8D2DC"/>
                </a:solidFill>
                <a:latin typeface="MiSans"/>
                <a:ea typeface="MiSans"/>
              </a:rPr>
              <a:t>main uniquement : conteneur + smoke tests</a:t>
            </a:r>
            <a:endParaRPr lang="en-US" sz="1200" noProof="1"/>
          </a:p>
        </p:txBody>
      </p:sp>
      <p:sp>
        <p:nvSpPr>
          <p:cNvPr id="15" name="detail-head"/>
          <p:cNvSpPr txBox="1"/>
          <p:nvPr/>
        </p:nvSpPr>
        <p:spPr>
          <a:xfrm>
            <a:off x="711200" y="2946400"/>
            <a:ext cx="50800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Choix techniques</a:t>
            </a:r>
            <a:endParaRPr lang="en-US" sz="1200" noProof="1"/>
          </a:p>
        </p:txBody>
      </p:sp>
      <p:sp>
        <p:nvSpPr>
          <p:cNvPr id="16" name="detail"/>
          <p:cNvSpPr txBox="1"/>
          <p:nvPr/>
        </p:nvSpPr>
        <p:spPr>
          <a:xfrm>
            <a:off x="711200" y="3251200"/>
            <a:ext cx="5334000" cy="2540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a:t>
            </a:r>
            <a:r>
              <a:rPr lang="en-US" sz="1250" noProof="1" b="1">
                <a:solidFill>
                  <a:srgbClr val="33404D"/>
                </a:solidFill>
                <a:latin typeface="MiSans"/>
                <a:ea typeface="MiSans"/>
              </a:rPr>
              <a:t>Jobs séparés</a:t>
            </a:r>
            <a:r>
              <a:rPr lang="en-US" sz="1250" noProof="1">
                <a:solidFill>
                  <a:srgbClr val="33404D"/>
                </a:solidFill>
                <a:latin typeface="MiSans"/>
                <a:ea typeface="MiSans"/>
              </a:rPr>
              <a:t> test → build → deploy : un échec de tests bloque la mise en production</a:t>
            </a:r>
            <a:endParaRPr lang="en-US" sz="1250" noProof="1"/>
          </a:p>
          <a:p>
            <a:pPr>
              <a:lnSpc>
                <a:spcPct val="145000"/>
              </a:lnSpc>
              <a:spcBef>
                <a:spcPts val="800"/>
              </a:spcBef>
            </a:pPr>
            <a:r>
              <a:rPr lang="en-US" sz="1250" noProof="1">
                <a:solidFill>
                  <a:srgbClr val="33404D"/>
                </a:solidFill>
                <a:latin typeface="MiSans"/>
                <a:ea typeface="MiSans"/>
              </a:rPr>
              <a:t>• Déploiement : conteneur lancé sur le runner, </a:t>
            </a:r>
            <a:r>
              <a:rPr lang="en-US" sz="1250" noProof="1" b="1">
                <a:solidFill>
                  <a:srgbClr val="33404D"/>
                </a:solidFill>
                <a:latin typeface="MiSans"/>
                <a:ea typeface="MiSans"/>
              </a:rPr>
              <a:t>smoke tests réels</a:t>
            </a:r>
            <a:r>
              <a:rPr lang="en-US" sz="1250" noProof="1">
                <a:solidFill>
                  <a:srgbClr val="33404D"/>
                </a:solidFill>
                <a:latin typeface="MiSans"/>
                <a:ea typeface="MiSans"/>
              </a:rPr>
              <a:t> (</a:t>
            </a:r>
            <a:r>
              <a:rPr lang="en-US" sz="1250" noProof="1">
                <a:solidFill>
                  <a:srgbClr val="33404D"/>
                </a:solidFill>
                <a:latin typeface="JetBrains Mono"/>
                <a:ea typeface="JetBrains Mono"/>
              </a:rPr>
              <a:t>curl /health</a:t>
            </a:r>
            <a:r>
              <a:rPr lang="en-US" sz="1250" noProof="1">
                <a:solidFill>
                  <a:srgbClr val="33404D"/>
                </a:solidFill>
                <a:latin typeface="MiSans"/>
                <a:ea typeface="MiSans"/>
              </a:rPr>
              <a:t> + </a:t>
            </a:r>
            <a:r>
              <a:rPr lang="en-US" sz="1250" noProof="1">
                <a:solidFill>
                  <a:srgbClr val="33404D"/>
                </a:solidFill>
                <a:latin typeface="JetBrains Mono"/>
                <a:ea typeface="JetBrains Mono"/>
              </a:rPr>
              <a:t>/predict</a:t>
            </a:r>
            <a:r>
              <a:rPr lang="en-US" sz="1250" noProof="1">
                <a:solidFill>
                  <a:srgbClr val="33404D"/>
                </a:solidFill>
                <a:latin typeface="MiSans"/>
                <a:ea typeface="MiSans"/>
              </a:rPr>
              <a:t>)</a:t>
            </a:r>
            <a:endParaRPr lang="en-US" sz="1250" noProof="1"/>
          </a:p>
          <a:p>
            <a:pPr>
              <a:lnSpc>
                <a:spcPct val="145000"/>
              </a:lnSpc>
              <a:spcBef>
                <a:spcPts val="800"/>
              </a:spcBef>
            </a:pPr>
            <a:r>
              <a:rPr lang="en-US" sz="1250" noProof="1">
                <a:solidFill>
                  <a:srgbClr val="33404D"/>
                </a:solidFill>
                <a:latin typeface="MiSans"/>
                <a:ea typeface="MiSans"/>
              </a:rPr>
              <a:t>• Image Docker minimale : </a:t>
            </a:r>
            <a:r>
              <a:rPr lang="en-US" sz="1250" noProof="1">
                <a:solidFill>
                  <a:srgbClr val="33404D"/>
                </a:solidFill>
                <a:latin typeface="JetBrains Mono"/>
                <a:ea typeface="JetBrains Mono"/>
              </a:rPr>
              <a:t>requirements-api.txt</a:t>
            </a:r>
            <a:r>
              <a:rPr lang="en-US" sz="1250" noProof="1">
                <a:solidFill>
                  <a:srgbClr val="33404D"/>
                </a:solidFill>
                <a:latin typeface="MiSans"/>
                <a:ea typeface="MiSans"/>
              </a:rPr>
              <a:t> (serving seul, sans MLflow/Optuna)</a:t>
            </a:r>
            <a:endParaRPr lang="en-US" sz="1250" noProof="1"/>
          </a:p>
          <a:p>
            <a:pPr>
              <a:lnSpc>
                <a:spcPct val="145000"/>
              </a:lnSpc>
              <a:spcBef>
                <a:spcPts val="800"/>
              </a:spcBef>
            </a:pPr>
            <a:r>
              <a:rPr lang="en-US" sz="1250" noProof="1">
                <a:solidFill>
                  <a:srgbClr val="33404D"/>
                </a:solidFill>
                <a:latin typeface="MiSans"/>
                <a:ea typeface="MiSans"/>
              </a:rPr>
              <a:t>• Credentials de registry prévus en </a:t>
            </a:r>
            <a:r>
              <a:rPr lang="en-US" sz="1250" noProof="1" b="1">
                <a:solidFill>
                  <a:srgbClr val="33404D"/>
                </a:solidFill>
                <a:latin typeface="MiSans"/>
                <a:ea typeface="MiSans"/>
              </a:rPr>
              <a:t>secrets GitHub</a:t>
            </a:r>
            <a:r>
              <a:rPr lang="en-US" sz="1250" noProof="1">
                <a:solidFill>
                  <a:srgbClr val="33404D"/>
                </a:solidFill>
                <a:latin typeface="MiSans"/>
                <a:ea typeface="MiSans"/>
              </a:rPr>
              <a:t> — aucun secret dans le code</a:t>
            </a:r>
            <a:endParaRPr lang="en-US" sz="1250" noProof="1"/>
          </a:p>
        </p:txBody>
      </p:sp>
      <p:sp>
        <p:nvSpPr>
          <p:cNvPr id="17" name="yaml-box"/>
          <p:cNvSpPr/>
          <p:nvPr/>
        </p:nvSpPr>
        <p:spPr>
          <a:xfrm>
            <a:off x="6604000" y="2946400"/>
            <a:ext cx="4876800" cy="2667000"/>
          </a:xfrm>
          <a:prstGeom prst="rect">
            <a:avLst/>
          </a:prstGeom>
          <a:solidFill>
            <a:srgbClr val="16324F"/>
          </a:solidFill>
          <a:ln>
            <a:noFill/>
          </a:ln>
        </p:spPr>
      </p:sp>
      <p:sp>
        <p:nvSpPr>
          <p:cNvPr id="18" name="yaml"/>
          <p:cNvSpPr txBox="1"/>
          <p:nvPr/>
        </p:nvSpPr>
        <p:spPr>
          <a:xfrm>
            <a:off x="6807200" y="3124200"/>
            <a:ext cx="4470400" cy="2362200"/>
          </a:xfrm>
          <a:prstGeom prst="rect">
            <a:avLst/>
          </a:prstGeom>
          <a:noFill/>
          <a:ln>
            <a:noFill/>
          </a:ln>
        </p:spPr>
        <p:txBody>
          <a:bodyPr lIns="0" rIns="0" tIns="0" bIns="0" wrap="square" rtlCol="0"/>
          <a:lstStyle/>
          <a:p>
            <a:pPr>
              <a:lnSpc>
                <a:spcPct val="140000"/>
              </a:lnSpc>
            </a:pPr>
            <a:r>
              <a:rPr lang="en-US" sz="1050" noProof="1">
                <a:solidFill>
                  <a:srgbClr val="8FA9BF"/>
                </a:solidFill>
                <a:latin typeface="JetBrains Mono"/>
                <a:ea typeface="JetBrains Mono"/>
              </a:rPr>
              <a:t># .github/workflows/ci-cd.yml</a:t>
            </a:r>
            <a:endParaRPr lang="en-US" sz="1050" noProof="1"/>
          </a:p>
          <a:p>
            <a:pPr>
              <a:lnSpc>
                <a:spcPct val="140000"/>
              </a:lnSpc>
            </a:pPr>
            <a:r>
              <a:rPr lang="en-US" sz="1050" noProof="1">
                <a:solidFill>
                  <a:srgbClr val="E8EDF2"/>
                </a:solidFill>
                <a:latin typeface="JetBrains Mono"/>
                <a:ea typeface="JetBrains Mono"/>
              </a:rPr>
              <a:t>on:</a:t>
            </a:r>
            <a:endParaRPr lang="en-US" sz="1050" noProof="1"/>
          </a:p>
          <a:p>
            <a:pPr>
              <a:lnSpc>
                <a:spcPct val="140000"/>
              </a:lnSpc>
            </a:pPr>
            <a:r>
              <a:rPr lang="en-US" sz="1050" noProof="1">
                <a:solidFill>
                  <a:srgbClr val="E8EDF2"/>
                </a:solidFill>
                <a:latin typeface="JetBrains Mono"/>
                <a:ea typeface="JetBrains Mono"/>
              </a:rPr>
              <a:t>  push: { branches: [main] }</a:t>
            </a:r>
            <a:endParaRPr lang="en-US" sz="1050" noProof="1"/>
          </a:p>
          <a:p>
            <a:pPr>
              <a:lnSpc>
                <a:spcPct val="140000"/>
              </a:lnSpc>
              <a:spcBef>
                <a:spcPts val="800"/>
              </a:spcBef>
            </a:pPr>
            <a:r>
              <a:rPr lang="en-US" sz="1050" noProof="1">
                <a:solidFill>
                  <a:srgbClr val="E8EDF2"/>
                </a:solidFill>
                <a:latin typeface="JetBrains Mono"/>
                <a:ea typeface="JetBrains Mono"/>
              </a:rPr>
              <a:t>jobs:</a:t>
            </a:r>
            <a:endParaRPr lang="en-US" sz="1050" noProof="1"/>
          </a:p>
          <a:p>
            <a:pPr>
              <a:lnSpc>
                <a:spcPct val="140000"/>
              </a:lnSpc>
            </a:pPr>
            <a:r>
              <a:rPr lang="en-US" sz="1050" noProof="1">
                <a:solidFill>
                  <a:srgbClr val="E8EDF2"/>
                </a:solidFill>
                <a:latin typeface="JetBrains Mono"/>
                <a:ea typeface="JetBrains Mono"/>
              </a:rPr>
              <a:t>  test:         </a:t>
            </a:r>
            <a:r>
              <a:rPr lang="en-US" sz="1050" noProof="1">
                <a:solidFill>
                  <a:srgbClr val="8FA9BF"/>
                </a:solidFill>
                <a:latin typeface="JetBrains Mono"/>
                <a:ea typeface="JetBrains Mono"/>
              </a:rPr>
              <a:t># pytest</a:t>
            </a:r>
            <a:endParaRPr lang="en-US" sz="1050" noProof="1"/>
          </a:p>
          <a:p>
            <a:pPr>
              <a:lnSpc>
                <a:spcPct val="140000"/>
              </a:lnSpc>
            </a:pPr>
            <a:r>
              <a:rPr lang="en-US" sz="1050" noProof="1">
                <a:solidFill>
                  <a:srgbClr val="E8EDF2"/>
                </a:solidFill>
                <a:latin typeface="JetBrains Mono"/>
                <a:ea typeface="JetBrains Mono"/>
              </a:rPr>
              <a:t>    steps: [checkout, setup-python 3.12,</a:t>
            </a:r>
            <a:endParaRPr lang="en-US" sz="1050" noProof="1"/>
          </a:p>
          <a:p>
            <a:pPr>
              <a:lnSpc>
                <a:spcPct val="140000"/>
              </a:lnSpc>
            </a:pPr>
            <a:r>
              <a:rPr lang="en-US" sz="1050" noProof="1">
                <a:solidFill>
                  <a:srgbClr val="E8EDF2"/>
                </a:solidFill>
                <a:latin typeface="JetBrains Mono"/>
                <a:ea typeface="JetBrains Mono"/>
              </a:rPr>
              <a:t>            pip install, pytest tests/]</a:t>
            </a:r>
            <a:endParaRPr lang="en-US" sz="1050" noProof="1"/>
          </a:p>
          <a:p>
            <a:pPr>
              <a:lnSpc>
                <a:spcPct val="140000"/>
              </a:lnSpc>
            </a:pPr>
            <a:r>
              <a:rPr lang="en-US" sz="1050" noProof="1">
                <a:solidFill>
                  <a:srgbClr val="E8EDF2"/>
                </a:solidFill>
                <a:latin typeface="JetBrains Mono"/>
                <a:ea typeface="JetBrains Mono"/>
              </a:rPr>
              <a:t>  docker-build: </a:t>
            </a:r>
            <a:r>
              <a:rPr lang="en-US" sz="1050" noProof="1">
                <a:solidFill>
                  <a:srgbClr val="8FA9BF"/>
                </a:solidFill>
                <a:latin typeface="JetBrains Mono"/>
                <a:ea typeface="JetBrains Mono"/>
              </a:rPr>
              <a:t># needs: test</a:t>
            </a:r>
            <a:endParaRPr lang="en-US" sz="1050" noProof="1"/>
          </a:p>
          <a:p>
            <a:pPr>
              <a:lnSpc>
                <a:spcPct val="140000"/>
              </a:lnSpc>
            </a:pPr>
            <a:r>
              <a:rPr lang="en-US" sz="1050" noProof="1">
                <a:solidFill>
                  <a:srgbClr val="E8EDF2"/>
                </a:solidFill>
                <a:latin typeface="JetBrains Mono"/>
                <a:ea typeface="JetBrains Mono"/>
              </a:rPr>
              <a:t>  deploy:       </a:t>
            </a:r>
            <a:r>
              <a:rPr lang="en-US" sz="1050" noProof="1">
                <a:solidFill>
                  <a:srgbClr val="8FA9BF"/>
                </a:solidFill>
                <a:latin typeface="JetBrains Mono"/>
                <a:ea typeface="JetBrains Mono"/>
              </a:rPr>
              <a:t># needs: docker-build</a:t>
            </a:r>
            <a:endParaRPr lang="en-US" sz="1050" noProof="1"/>
          </a:p>
          <a:p>
            <a:pPr>
              <a:lnSpc>
                <a:spcPct val="140000"/>
              </a:lnSpc>
            </a:pPr>
            <a:r>
              <a:rPr lang="en-US" sz="1050" noProof="1">
                <a:solidFill>
                  <a:srgbClr val="E8EDF2"/>
                </a:solidFill>
                <a:latin typeface="JetBrains Mono"/>
                <a:ea typeface="JetBrains Mono"/>
              </a:rPr>
              <a:t>    if: github.ref == 'refs/heads/main'</a:t>
            </a:r>
            <a:endParaRPr lang="en-US" sz="1050" noProof="1"/>
          </a:p>
          <a:p>
            <a:pPr>
              <a:lnSpc>
                <a:spcPct val="140000"/>
              </a:lnSpc>
            </a:pPr>
            <a:r>
              <a:rPr lang="en-US" sz="1050" noProof="1">
                <a:solidFill>
                  <a:srgbClr val="E8EDF2"/>
                </a:solidFill>
                <a:latin typeface="JetBrains Mono"/>
                <a:ea typeface="JetBrains Mono"/>
              </a:rPr>
              <a:t>    steps: [docker run, curl /health,</a:t>
            </a:r>
            <a:endParaRPr lang="en-US" sz="1050" noProof="1"/>
          </a:p>
          <a:p>
            <a:pPr>
              <a:lnSpc>
                <a:spcPct val="140000"/>
              </a:lnSpc>
            </a:pPr>
            <a:r>
              <a:rPr lang="en-US" sz="1050" noProof="1">
                <a:solidFill>
                  <a:srgbClr val="E8EDF2"/>
                </a:solidFill>
                <a:latin typeface="JetBrains Mono"/>
                <a:ea typeface="JetBrains Mono"/>
              </a:rPr>
              <a:t>            curl /predict]</a:t>
            </a:r>
            <a:endParaRPr lang="en-US" sz="1050" noProof="1"/>
          </a:p>
        </p:txBody>
      </p:sp>
      <p:sp>
        <p:nvSpPr>
          <p:cNvPr id="19" name="demo-note"/>
          <p:cNvSpPr txBox="1"/>
          <p:nvPr/>
        </p:nvSpPr>
        <p:spPr>
          <a:xfrm>
            <a:off x="711200" y="5892800"/>
            <a:ext cx="10769600" cy="304800"/>
          </a:xfrm>
          <a:prstGeom prst="rect">
            <a:avLst/>
          </a:prstGeom>
          <a:noFill/>
          <a:ln>
            <a:noFill/>
          </a:ln>
        </p:spPr>
        <p:txBody>
          <a:bodyPr lIns="0" rIns="0" tIns="0" bIns="0" wrap="square" rtlCol="0"/>
          <a:lstStyle/>
          <a:p>
            <a:pPr>
              <a:lnSpc>
                <a:spcPct val="135000"/>
              </a:lnSpc>
            </a:pPr>
            <a:r>
              <a:rPr lang="en-US" sz="1150" noProof="1">
                <a:solidFill>
                  <a:srgbClr val="6B7683"/>
                </a:solidFill>
                <a:latin typeface="MiSans"/>
                <a:ea typeface="MiSans"/>
              </a:rPr>
              <a:t>Démonstration en direct : un commit sur main déclenche le pipeline visible dans l'onglet Actions du dépôt.</a:t>
            </a:r>
            <a:endParaRPr lang="en-US" sz="1150" noProof="1"/>
          </a:p>
        </p:txBody>
      </p:sp>
      <p:sp>
        <p:nvSpPr>
          <p:cNvPr id="20"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21"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07</a:t>
            </a:r>
            <a:endParaRPr lang="en-US" sz="1100" noProof="1"/>
          </a:p>
        </p:txBody>
      </p:sp>
    </p:spTree>
  </p:cSld>
  <p:clrMapOvr>
    <a:masterClrMapping/>
  </p:clrMapOvr>
</p:sld>
</file>

<file path=ppt/slides/slide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Stockage des données de production : chaque appel est traçable</a:t>
            </a:r>
            <a:endParaRPr lang="en-US" sz="2600" noProof="1"/>
          </a:p>
        </p:txBody>
      </p:sp>
      <p:sp>
        <p:nvSpPr>
          <p:cNvPr id="4" name="left"/>
          <p:cNvSpPr txBox="1"/>
          <p:nvPr/>
        </p:nvSpPr>
        <p:spPr>
          <a:xfrm>
            <a:off x="711200" y="1498600"/>
            <a:ext cx="4826000" cy="3175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a:t>
            </a:r>
            <a:r>
              <a:rPr lang="en-US" sz="1250" noProof="1" b="1">
                <a:solidFill>
                  <a:srgbClr val="33404D"/>
                </a:solidFill>
                <a:latin typeface="MiSans"/>
                <a:ea typeface="MiSans"/>
              </a:rPr>
              <a:t>Double écriture</a:t>
            </a:r>
            <a:r>
              <a:rPr lang="en-US" sz="1250" noProof="1">
                <a:solidFill>
                  <a:srgbClr val="33404D"/>
                </a:solidFill>
                <a:latin typeface="MiSans"/>
                <a:ea typeface="MiSans"/>
              </a:rPr>
              <a:t> : base SQLite </a:t>
            </a:r>
            <a:r>
              <a:rPr lang="en-US" sz="1250" noProof="1">
                <a:solidFill>
                  <a:srgbClr val="33404D"/>
                </a:solidFill>
                <a:latin typeface="JetBrains Mono"/>
                <a:ea typeface="JetBrains Mono"/>
              </a:rPr>
              <a:t>prod_logs.db</a:t>
            </a:r>
            <a:r>
              <a:rPr lang="en-US" sz="1250" noProof="1">
                <a:solidFill>
                  <a:srgbClr val="33404D"/>
                </a:solidFill>
                <a:latin typeface="MiSans"/>
                <a:ea typeface="MiSans"/>
              </a:rPr>
              <a:t> (interrogeable) + miroir JSONL (export/archivage)</a:t>
            </a:r>
            <a:endParaRPr lang="en-US" sz="1250" noProof="1"/>
          </a:p>
          <a:p>
            <a:pPr>
              <a:lnSpc>
                <a:spcPct val="145000"/>
              </a:lnSpc>
              <a:spcBef>
                <a:spcPts val="800"/>
              </a:spcBef>
            </a:pPr>
            <a:r>
              <a:rPr lang="en-US" sz="1250" noProof="1">
                <a:solidFill>
                  <a:srgbClr val="33404D"/>
                </a:solidFill>
                <a:latin typeface="MiSans"/>
                <a:ea typeface="MiSans"/>
              </a:rPr>
              <a:t>• Chaque enregistrement : horodatage UTC, identifiant de requête, </a:t>
            </a:r>
            <a:r>
              <a:rPr lang="en-US" sz="1250" noProof="1" b="1">
                <a:solidFill>
                  <a:srgbClr val="33404D"/>
                </a:solidFill>
                <a:latin typeface="MiSans"/>
                <a:ea typeface="MiSans"/>
              </a:rPr>
              <a:t>inputs complets</a:t>
            </a:r>
            <a:r>
              <a:rPr lang="en-US" sz="1250" noProof="1">
                <a:solidFill>
                  <a:srgbClr val="33404D"/>
                </a:solidFill>
                <a:latin typeface="MiSans"/>
                <a:ea typeface="MiSans"/>
              </a:rPr>
              <a:t>, score, décision, seuil, </a:t>
            </a:r>
            <a:r>
              <a:rPr lang="en-US" sz="1250" noProof="1" b="1">
                <a:solidFill>
                  <a:srgbClr val="33404D"/>
                </a:solidFill>
                <a:latin typeface="MiSans"/>
                <a:ea typeface="MiSans"/>
              </a:rPr>
              <a:t>latence et temps d'inférence</a:t>
            </a:r>
            <a:r>
              <a:rPr lang="en-US" sz="1250" noProof="1">
                <a:solidFill>
                  <a:srgbClr val="33404D"/>
                </a:solidFill>
                <a:latin typeface="MiSans"/>
                <a:ea typeface="MiSans"/>
              </a:rPr>
              <a:t>, statut HTTP, erreur éventuelle</a:t>
            </a:r>
            <a:endParaRPr lang="en-US" sz="1250" noProof="1"/>
          </a:p>
          <a:p>
            <a:pPr>
              <a:lnSpc>
                <a:spcPct val="145000"/>
              </a:lnSpc>
              <a:spcBef>
                <a:spcPts val="800"/>
              </a:spcBef>
            </a:pPr>
            <a:r>
              <a:rPr lang="en-US" sz="1250" noProof="1">
                <a:solidFill>
                  <a:srgbClr val="33404D"/>
                </a:solidFill>
                <a:latin typeface="MiSans"/>
                <a:ea typeface="MiSans"/>
              </a:rPr>
              <a:t>• Les erreurs 422 sont loggées aussi : indispensables pour surveiller la qualité des données envoyées par les appelants</a:t>
            </a:r>
            <a:endParaRPr lang="en-US" sz="1250" noProof="1"/>
          </a:p>
          <a:p>
            <a:pPr>
              <a:lnSpc>
                <a:spcPct val="145000"/>
              </a:lnSpc>
              <a:spcBef>
                <a:spcPts val="800"/>
              </a:spcBef>
            </a:pPr>
            <a:r>
              <a:rPr lang="en-US" sz="1250" noProof="1">
                <a:solidFill>
                  <a:srgbClr val="33404D"/>
                </a:solidFill>
                <a:latin typeface="MiSans"/>
                <a:ea typeface="MiSans"/>
              </a:rPr>
              <a:t>• Les inputs stockés permettent de </a:t>
            </a:r>
            <a:r>
              <a:rPr lang="en-US" sz="1250" noProof="1" b="1">
                <a:solidFill>
                  <a:srgbClr val="33404D"/>
                </a:solidFill>
                <a:latin typeface="MiSans"/>
                <a:ea typeface="MiSans"/>
              </a:rPr>
              <a:t>rejouer l'analyse de dérive</a:t>
            </a:r>
            <a:r>
              <a:rPr lang="en-US" sz="1250" noProof="1">
                <a:solidFill>
                  <a:srgbClr val="33404D"/>
                </a:solidFill>
                <a:latin typeface="MiSans"/>
                <a:ea typeface="MiSans"/>
              </a:rPr>
              <a:t> a posteriori (consigne : logs exploitables hors cloud)</a:t>
            </a:r>
            <a:endParaRPr lang="en-US" sz="1250" noProof="1"/>
          </a:p>
          <a:p>
            <a:pPr>
              <a:lnSpc>
                <a:spcPct val="145000"/>
              </a:lnSpc>
              <a:spcBef>
                <a:spcPts val="800"/>
              </a:spcBef>
            </a:pPr>
            <a:r>
              <a:rPr lang="en-US" sz="1250" noProof="1">
                <a:solidFill>
                  <a:srgbClr val="33404D"/>
                </a:solidFill>
                <a:latin typeface="MiSans"/>
                <a:ea typeface="MiSans"/>
              </a:rPr>
              <a:t>• PoC 100 % local, sans coût de service cloud ; RGPD : pas de nom/identifiant client stocké, seulement les variables du scoring</a:t>
            </a:r>
            <a:endParaRPr lang="en-US" sz="1250" noProof="1"/>
          </a:p>
        </p:txBody>
      </p:sp>
      <p:sp>
        <p:nvSpPr>
          <p:cNvPr id="5" name="vol-head"/>
          <p:cNvSpPr txBox="1"/>
          <p:nvPr/>
        </p:nvSpPr>
        <p:spPr>
          <a:xfrm>
            <a:off x="711200" y="4978400"/>
            <a:ext cx="48260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Volumétrie de la session de démonstration</a:t>
            </a:r>
            <a:endParaRPr lang="en-US" sz="1200" noProof="1"/>
          </a:p>
        </p:txBody>
      </p:sp>
      <p:sp>
        <p:nvSpPr>
          <p:cNvPr id="6" name="vol"/>
          <p:cNvSpPr txBox="1"/>
          <p:nvPr/>
        </p:nvSpPr>
        <p:spPr>
          <a:xfrm>
            <a:off x="711200" y="5283200"/>
            <a:ext cx="4826000" cy="762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2 000 appels · 1 900 succès (95 %) · 100 erreurs 422 (5 %) · 30,5 % de dossiers refusés au seuil 0,45.</a:t>
            </a:r>
            <a:endParaRPr lang="en-US" sz="1250" noProof="1"/>
          </a:p>
        </p:txBody>
      </p:sp>
      <p:pic>
        <p:nvPicPr>
          <p:cNvPr id="7" name="img"/>
          <p:cNvPicPr/>
          <p:nvPr/>
        </p:nvPicPr>
        <p:blipFill>
          <a:blip r:embed="rId2"/>
          <a:srcRect t="-68" b="-68"/>
          <a:stretch>
            <a:fillRect/>
          </a:stretch>
        </p:blipFill>
        <p:spPr>
          <a:xfrm>
            <a:off x="5969000" y="1473200"/>
            <a:ext cx="5511800" cy="3911600"/>
          </a:xfrm>
          <a:prstGeom prst="rect">
            <a:avLst/>
          </a:prstGeom>
          <a:ln>
            <a:noFill/>
          </a:ln>
        </p:spPr>
      </p:pic>
      <p:sp>
        <p:nvSpPr>
          <p:cNvPr id="8" name="img-border"/>
          <p:cNvSpPr/>
          <p:nvPr/>
        </p:nvSpPr>
        <p:spPr>
          <a:xfrm>
            <a:off x="5969000" y="1473200"/>
            <a:ext cx="5511800" cy="3911600"/>
          </a:xfrm>
          <a:prstGeom prst="rect">
            <a:avLst/>
          </a:prstGeom>
          <a:noFill/>
          <a:ln w="12700">
            <a:solidFill>
              <a:srgbClr val="D8DEE4"/>
            </a:solidFill>
          </a:ln>
        </p:spPr>
      </p:sp>
      <p:sp>
        <p:nvSpPr>
          <p:cNvPr id="9" name="img-cap"/>
          <p:cNvSpPr txBox="1"/>
          <p:nvPr/>
        </p:nvSpPr>
        <p:spPr>
          <a:xfrm>
            <a:off x="5969000" y="5461000"/>
            <a:ext cx="5511800" cy="431800"/>
          </a:xfrm>
          <a:prstGeom prst="rect">
            <a:avLst/>
          </a:prstGeom>
          <a:noFill/>
          <a:ln>
            <a:noFill/>
          </a:ln>
        </p:spPr>
        <p:txBody>
          <a:bodyPr lIns="0" rIns="0" tIns="0" bIns="0" wrap="square" rtlCol="0" anchor="t"/>
          <a:lstStyle/>
          <a:p>
            <a:pPr algn="ctr">
              <a:lnSpc>
                <a:spcPct val="135000"/>
              </a:lnSpc>
            </a:pPr>
            <a:r>
              <a:rPr lang="en-US" sz="1100" noProof="1">
                <a:solidFill>
                  <a:srgbClr val="6B7683"/>
                </a:solidFill>
                <a:latin typeface="MiSans"/>
                <a:ea typeface="MiSans"/>
              </a:rPr>
              <a:t>Capture de la solution de stockage : schéma réel de la table predictions (PRAGMA) et volumétrie — docs/screenshots/</a:t>
            </a:r>
            <a:endParaRPr lang="en-US" sz="1100" noProof="1"/>
          </a:p>
        </p:txBody>
      </p:sp>
      <p:sp>
        <p:nvSpPr>
          <p:cNvPr id="10"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11"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08</a:t>
            </a:r>
            <a:endParaRPr lang="en-US" sz="1100" noProof="1"/>
          </a:p>
        </p:txBody>
      </p:sp>
    </p:spTree>
  </p:cSld>
  <p:clrMapOvr>
    <a:masterClrMapping/>
  </p:clrMapOvr>
</p:sld>
</file>

<file path=ppt/slides/slide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Simulation de production : 2 000 vraies requêtes contre l'API</a:t>
            </a:r>
            <a:endParaRPr lang="en-US" sz="2600" noProof="1"/>
          </a:p>
        </p:txBody>
      </p:sp>
      <p:sp>
        <p:nvSpPr>
          <p:cNvPr id="4" name="kpi1-label"/>
          <p:cNvSpPr txBox="1"/>
          <p:nvPr/>
        </p:nvSpPr>
        <p:spPr>
          <a:xfrm>
            <a:off x="711200" y="1549400"/>
            <a:ext cx="2413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Requêtes (en 11,6 s)</a:t>
            </a:r>
            <a:endParaRPr lang="en-US" sz="1100" noProof="1"/>
          </a:p>
        </p:txBody>
      </p:sp>
      <p:sp>
        <p:nvSpPr>
          <p:cNvPr id="5" name="kpi1"/>
          <p:cNvSpPr txBox="1"/>
          <p:nvPr/>
        </p:nvSpPr>
        <p:spPr>
          <a:xfrm>
            <a:off x="711200" y="1778000"/>
            <a:ext cx="2413000" cy="533400"/>
          </a:xfrm>
          <a:prstGeom prst="rect">
            <a:avLst/>
          </a:prstGeom>
          <a:noFill/>
          <a:ln>
            <a:noFill/>
          </a:ln>
        </p:spPr>
        <p:txBody>
          <a:bodyPr lIns="0" rIns="0" tIns="0" bIns="0" wrap="none" rtlCol="0"/>
          <a:lstStyle/>
          <a:p>
            <a:pPr>
              <a:lnSpc>
                <a:spcPct val="120000"/>
              </a:lnSpc>
            </a:pPr>
            <a:r>
              <a:rPr lang="en-US" sz="3000" noProof="1" b="1">
                <a:solidFill>
                  <a:srgbClr val="C96A1B"/>
                </a:solidFill>
                <a:latin typeface="MiSans"/>
                <a:ea typeface="MiSans"/>
              </a:rPr>
              <a:t>2 000</a:t>
            </a:r>
            <a:endParaRPr lang="en-US" sz="3000" noProof="1"/>
          </a:p>
        </p:txBody>
      </p:sp>
      <p:sp>
        <p:nvSpPr>
          <p:cNvPr id="6" name="kpi2-label"/>
          <p:cNvSpPr txBox="1"/>
          <p:nvPr/>
        </p:nvSpPr>
        <p:spPr>
          <a:xfrm>
            <a:off x="3378200" y="1549400"/>
            <a:ext cx="2413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Taux d'erreur (422)</a:t>
            </a:r>
            <a:endParaRPr lang="en-US" sz="1100" noProof="1"/>
          </a:p>
        </p:txBody>
      </p:sp>
      <p:sp>
        <p:nvSpPr>
          <p:cNvPr id="7" name="kpi2"/>
          <p:cNvSpPr txBox="1"/>
          <p:nvPr/>
        </p:nvSpPr>
        <p:spPr>
          <a:xfrm>
            <a:off x="3378200" y="1778000"/>
            <a:ext cx="2413000" cy="533400"/>
          </a:xfrm>
          <a:prstGeom prst="rect">
            <a:avLst/>
          </a:prstGeom>
          <a:noFill/>
          <a:ln>
            <a:noFill/>
          </a:ln>
        </p:spPr>
        <p:txBody>
          <a:bodyPr lIns="0" rIns="0" tIns="0" bIns="0" wrap="none" rtlCol="0"/>
          <a:lstStyle/>
          <a:p>
            <a:pPr>
              <a:lnSpc>
                <a:spcPct val="120000"/>
              </a:lnSpc>
            </a:pPr>
            <a:r>
              <a:rPr lang="en-US" sz="3000" noProof="1" b="1">
                <a:solidFill>
                  <a:srgbClr val="C96A1B"/>
                </a:solidFill>
                <a:latin typeface="MiSans"/>
                <a:ea typeface="MiSans"/>
              </a:rPr>
              <a:t>5,0 %</a:t>
            </a:r>
            <a:endParaRPr lang="en-US" sz="3000" noProof="1"/>
          </a:p>
        </p:txBody>
      </p:sp>
      <p:sp>
        <p:nvSpPr>
          <p:cNvPr id="8" name="kpi3-label"/>
          <p:cNvSpPr txBox="1"/>
          <p:nvPr/>
        </p:nvSpPr>
        <p:spPr>
          <a:xfrm>
            <a:off x="6045200" y="1549400"/>
            <a:ext cx="2667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Latence API moy. / p95</a:t>
            </a:r>
            <a:endParaRPr lang="en-US" sz="1100" noProof="1"/>
          </a:p>
        </p:txBody>
      </p:sp>
      <p:sp>
        <p:nvSpPr>
          <p:cNvPr id="9" name="kpi3"/>
          <p:cNvSpPr txBox="1"/>
          <p:nvPr/>
        </p:nvSpPr>
        <p:spPr>
          <a:xfrm>
            <a:off x="6045200" y="1778000"/>
            <a:ext cx="2667000" cy="533400"/>
          </a:xfrm>
          <a:prstGeom prst="rect">
            <a:avLst/>
          </a:prstGeom>
          <a:noFill/>
          <a:ln>
            <a:noFill/>
          </a:ln>
        </p:spPr>
        <p:txBody>
          <a:bodyPr lIns="0" rIns="0" tIns="0" bIns="0" wrap="none" rtlCol="0"/>
          <a:lstStyle/>
          <a:p>
            <a:pPr>
              <a:lnSpc>
                <a:spcPct val="120000"/>
              </a:lnSpc>
            </a:pPr>
            <a:r>
              <a:rPr lang="en-US" sz="3000" noProof="1" b="1">
                <a:solidFill>
                  <a:srgbClr val="C96A1B"/>
                </a:solidFill>
                <a:latin typeface="MiSans"/>
                <a:ea typeface="MiSans"/>
              </a:rPr>
              <a:t>0,32 / 0,44 ms</a:t>
            </a:r>
            <a:endParaRPr lang="en-US" sz="3000" noProof="1"/>
          </a:p>
        </p:txBody>
      </p:sp>
      <p:sp>
        <p:nvSpPr>
          <p:cNvPr id="10" name="kpi4-label"/>
          <p:cNvSpPr txBox="1"/>
          <p:nvPr/>
        </p:nvSpPr>
        <p:spPr>
          <a:xfrm>
            <a:off x="9093200" y="1549400"/>
            <a:ext cx="2413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Dossiers refusés</a:t>
            </a:r>
            <a:endParaRPr lang="en-US" sz="1100" noProof="1"/>
          </a:p>
        </p:txBody>
      </p:sp>
      <p:sp>
        <p:nvSpPr>
          <p:cNvPr id="11" name="kpi4"/>
          <p:cNvSpPr txBox="1"/>
          <p:nvPr/>
        </p:nvSpPr>
        <p:spPr>
          <a:xfrm>
            <a:off x="9093200" y="1778000"/>
            <a:ext cx="2413000" cy="533400"/>
          </a:xfrm>
          <a:prstGeom prst="rect">
            <a:avLst/>
          </a:prstGeom>
          <a:noFill/>
          <a:ln>
            <a:noFill/>
          </a:ln>
        </p:spPr>
        <p:txBody>
          <a:bodyPr lIns="0" rIns="0" tIns="0" bIns="0" wrap="none" rtlCol="0"/>
          <a:lstStyle/>
          <a:p>
            <a:pPr>
              <a:lnSpc>
                <a:spcPct val="120000"/>
              </a:lnSpc>
            </a:pPr>
            <a:r>
              <a:rPr lang="en-US" sz="3000" noProof="1" b="1">
                <a:solidFill>
                  <a:srgbClr val="C96A1B"/>
                </a:solidFill>
                <a:latin typeface="MiSans"/>
                <a:ea typeface="MiSans"/>
              </a:rPr>
              <a:t>30,5 %</a:t>
            </a:r>
            <a:endParaRPr lang="en-US" sz="3000" noProof="1"/>
          </a:p>
        </p:txBody>
      </p:sp>
      <p:sp>
        <p:nvSpPr>
          <p:cNvPr id="12" name="sep"/>
          <p:cNvSpPr/>
          <p:nvPr/>
        </p:nvSpPr>
        <p:spPr>
          <a:xfrm>
            <a:off x="711200" y="2590800"/>
            <a:ext cx="10769600" cy="12700"/>
          </a:xfrm>
          <a:prstGeom prst="rect">
            <a:avLst/>
          </a:prstGeom>
          <a:solidFill>
            <a:srgbClr val="D8DEE4"/>
          </a:solidFill>
          <a:ln>
            <a:noFill/>
          </a:ln>
        </p:spPr>
      </p:sp>
      <p:sp>
        <p:nvSpPr>
          <p:cNvPr id="13" name="p1-head"/>
          <p:cNvSpPr txBox="1"/>
          <p:nvPr/>
        </p:nvSpPr>
        <p:spPr>
          <a:xfrm>
            <a:off x="711200" y="2844800"/>
            <a:ext cx="53340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Protocole de la simulation</a:t>
            </a:r>
            <a:endParaRPr lang="en-US" sz="1200" noProof="1"/>
          </a:p>
        </p:txBody>
      </p:sp>
      <p:sp>
        <p:nvSpPr>
          <p:cNvPr id="14" name="p1"/>
          <p:cNvSpPr txBox="1"/>
          <p:nvPr/>
        </p:nvSpPr>
        <p:spPr>
          <a:xfrm>
            <a:off x="711200" y="3149600"/>
            <a:ext cx="5334000" cy="2667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2 000 clients réels issus du jeu de test (partie 1), envoyés à l'API en HTTP</a:t>
            </a:r>
            <a:endParaRPr lang="en-US" sz="1250" noProof="1"/>
          </a:p>
          <a:p>
            <a:pPr>
              <a:lnSpc>
                <a:spcPct val="145000"/>
              </a:lnSpc>
              <a:spcBef>
                <a:spcPts val="800"/>
              </a:spcBef>
            </a:pPr>
            <a:r>
              <a:rPr lang="en-US" sz="1250" noProof="1">
                <a:solidFill>
                  <a:srgbClr val="33404D"/>
                </a:solidFill>
                <a:latin typeface="MiSans"/>
                <a:ea typeface="MiSans"/>
              </a:rPr>
              <a:t>• </a:t>
            </a:r>
            <a:r>
              <a:rPr lang="en-US" sz="1250" noProof="1" b="1">
                <a:solidFill>
                  <a:srgbClr val="33404D"/>
                </a:solidFill>
                <a:latin typeface="MiSans"/>
                <a:ea typeface="MiSans"/>
              </a:rPr>
              <a:t>Période 1</a:t>
            </a:r>
            <a:r>
              <a:rPr lang="en-US" sz="1250" noProof="1">
                <a:solidFill>
                  <a:srgbClr val="33404D"/>
                </a:solidFill>
                <a:latin typeface="MiSans"/>
                <a:ea typeface="MiSans"/>
              </a:rPr>
              <a:t> (1 200 requêtes) : population nominale</a:t>
            </a:r>
            <a:endParaRPr lang="en-US" sz="1250" noProof="1"/>
          </a:p>
          <a:p>
            <a:pPr>
              <a:lnSpc>
                <a:spcPct val="145000"/>
              </a:lnSpc>
              <a:spcBef>
                <a:spcPts val="800"/>
              </a:spcBef>
            </a:pPr>
            <a:r>
              <a:rPr lang="en-US" sz="1250" noProof="1">
                <a:solidFill>
                  <a:srgbClr val="33404D"/>
                </a:solidFill>
                <a:latin typeface="MiSans"/>
                <a:ea typeface="MiSans"/>
              </a:rPr>
              <a:t>• </a:t>
            </a:r>
            <a:r>
              <a:rPr lang="en-US" sz="1250" noProof="1" b="1">
                <a:solidFill>
                  <a:srgbClr val="33404D"/>
                </a:solidFill>
                <a:latin typeface="MiSans"/>
                <a:ea typeface="MiSans"/>
              </a:rPr>
              <a:t>Période 2</a:t>
            </a:r>
            <a:r>
              <a:rPr lang="en-US" sz="1250" noProof="1">
                <a:solidFill>
                  <a:srgbClr val="33404D"/>
                </a:solidFill>
                <a:latin typeface="MiSans"/>
                <a:ea typeface="MiSans"/>
              </a:rPr>
              <a:t> (800 requêtes) : dérive artificielle documentée — crédit ×1,40, revenu ×0,85, EXT_SOURCE_2 −0,08, EXT_SOURCE_3 −0,05, clients plus jeunes (+1 500 j)</a:t>
            </a:r>
            <a:endParaRPr lang="en-US" sz="1250" noProof="1"/>
          </a:p>
          <a:p>
            <a:pPr>
              <a:lnSpc>
                <a:spcPct val="145000"/>
              </a:lnSpc>
              <a:spcBef>
                <a:spcPts val="800"/>
              </a:spcBef>
            </a:pPr>
            <a:r>
              <a:rPr lang="en-US" sz="1250" noProof="1">
                <a:solidFill>
                  <a:srgbClr val="33404D"/>
                </a:solidFill>
                <a:latin typeface="MiSans"/>
                <a:ea typeface="MiSans"/>
              </a:rPr>
              <a:t>• 100 requêtes volontairement invalides (champ manquant, type texte, valeurs hors plage) → vérifient le 422 et le taux d'erreur</a:t>
            </a:r>
            <a:endParaRPr lang="en-US" sz="1250" noProof="1"/>
          </a:p>
        </p:txBody>
      </p:sp>
      <p:sp>
        <p:nvSpPr>
          <p:cNvPr id="15" name="p2-head"/>
          <p:cNvSpPr txBox="1"/>
          <p:nvPr/>
        </p:nvSpPr>
        <p:spPr>
          <a:xfrm>
            <a:off x="6858000" y="2844800"/>
            <a:ext cx="46228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Pourquoi cette conception</a:t>
            </a:r>
            <a:endParaRPr lang="en-US" sz="1200" noProof="1"/>
          </a:p>
        </p:txBody>
      </p:sp>
      <p:sp>
        <p:nvSpPr>
          <p:cNvPr id="16" name="p2"/>
          <p:cNvSpPr txBox="1"/>
          <p:nvPr/>
        </p:nvSpPr>
        <p:spPr>
          <a:xfrm>
            <a:off x="6858000" y="3149600"/>
            <a:ext cx="4622800" cy="2667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Latences </a:t>
            </a:r>
            <a:r>
              <a:rPr lang="en-US" sz="1250" noProof="1" b="1">
                <a:solidFill>
                  <a:srgbClr val="33404D"/>
                </a:solidFill>
                <a:latin typeface="MiSans"/>
                <a:ea typeface="MiSans"/>
              </a:rPr>
              <a:t>réelles</a:t>
            </a:r>
            <a:r>
              <a:rPr lang="en-US" sz="1250" noProof="1">
                <a:solidFill>
                  <a:srgbClr val="33404D"/>
                </a:solidFill>
                <a:latin typeface="MiSans"/>
                <a:ea typeface="MiSans"/>
              </a:rPr>
              <a:t> mesurées sur l'API (pas de chiffres simulés)</a:t>
            </a:r>
            <a:endParaRPr lang="en-US" sz="1250" noProof="1"/>
          </a:p>
          <a:p>
            <a:pPr>
              <a:lnSpc>
                <a:spcPct val="145000"/>
              </a:lnSpc>
              <a:spcBef>
                <a:spcPts val="800"/>
              </a:spcBef>
            </a:pPr>
            <a:r>
              <a:rPr lang="en-US" sz="1250" noProof="1">
                <a:solidFill>
                  <a:srgbClr val="33404D"/>
                </a:solidFill>
                <a:latin typeface="MiSans"/>
                <a:ea typeface="MiSans"/>
              </a:rPr>
              <a:t>• La dérive injectée en période 2 sert de </a:t>
            </a:r>
            <a:r>
              <a:rPr lang="en-US" sz="1250" noProof="1" b="1">
                <a:solidFill>
                  <a:srgbClr val="33404D"/>
                </a:solidFill>
                <a:latin typeface="MiSans"/>
                <a:ea typeface="MiSans"/>
              </a:rPr>
              <a:t>vérité terrain</a:t>
            </a:r>
            <a:r>
              <a:rPr lang="en-US" sz="1250" noProof="1">
                <a:solidFill>
                  <a:srgbClr val="33404D"/>
                </a:solidFill>
                <a:latin typeface="MiSans"/>
                <a:ea typeface="MiSans"/>
              </a:rPr>
              <a:t> : si le système de détection ne la retrouve pas, il est inopérant</a:t>
            </a:r>
            <a:endParaRPr lang="en-US" sz="1250" noProof="1"/>
          </a:p>
          <a:p>
            <a:pPr>
              <a:lnSpc>
                <a:spcPct val="145000"/>
              </a:lnSpc>
              <a:spcBef>
                <a:spcPts val="800"/>
              </a:spcBef>
            </a:pPr>
            <a:r>
              <a:rPr lang="en-US" sz="1250" noProof="1">
                <a:solidFill>
                  <a:srgbClr val="33404D"/>
                </a:solidFill>
                <a:latin typeface="MiSans"/>
                <a:ea typeface="MiSans"/>
              </a:rPr>
              <a:t>• Le taux d'erreur et la latence alimentent le dashboard de la même façon qu'en production réelle</a:t>
            </a:r>
            <a:endParaRPr lang="en-US" sz="1250" noProof="1"/>
          </a:p>
        </p:txBody>
      </p:sp>
      <p:sp>
        <p:nvSpPr>
          <p:cNvPr id="17"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18"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09</a:t>
            </a:r>
            <a:endParaRPr lang="en-US" sz="1100" noProof="1"/>
          </a:p>
        </p:txBody>
      </p:sp>
    </p:spTree>
  </p:cSld>
  <p:clrMapOvr>
    <a:masterClrMapping/>
  </p:clrMapOvr>
</p:sld>
</file>

<file path=ppt/slides/slide1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Data drift : la dérive injectée est détectée — 6 colonnes en alerte sur 32</a:t>
            </a:r>
            <a:endParaRPr lang="en-US" sz="2600" noProof="1"/>
          </a:p>
        </p:txBody>
      </p:sp>
      <p:graphicFrame>
        <p:nvGraphicFramePr>
          <p:cNvPr id="4" name="chart"/>
          <p:cNvGraphicFramePr/>
          <p:nvPr/>
        </p:nvGraphicFramePr>
        <p:xfrm>
          <a:off x="711200" y="1498600"/>
          <a:ext cx="6350000" cy="4064000"/>
        </p:xfrm>
        <a:graphic>
          <a:graphicData uri="http://schemas.openxmlformats.org/drawingml/2006/chart">
            <c:chart r:id="rId2"/>
          </a:graphicData>
        </a:graphic>
      </p:graphicFrame>
      <p:sp>
        <p:nvSpPr>
          <p:cNvPr id="5" name="chart-cap"/>
          <p:cNvSpPr txBox="1"/>
          <p:nvPr/>
        </p:nvSpPr>
        <p:spPr>
          <a:xfrm>
            <a:off x="711200" y="5613400"/>
            <a:ext cx="6350000" cy="406400"/>
          </a:xfrm>
          <a:prstGeom prst="rect">
            <a:avLst/>
          </a:prstGeom>
          <a:noFill/>
          <a:ln>
            <a:noFill/>
          </a:ln>
        </p:spPr>
        <p:txBody>
          <a:bodyPr lIns="0" rIns="0" tIns="0" bIns="0" wrap="square" rtlCol="0"/>
          <a:lstStyle/>
          <a:p>
            <a:pPr>
              <a:lnSpc>
                <a:spcPct val="135000"/>
              </a:lnSpc>
            </a:pPr>
            <a:r>
              <a:rPr lang="en-US" sz="1100" noProof="1">
                <a:solidFill>
                  <a:srgbClr val="6B7683"/>
                </a:solidFill>
                <a:latin typeface="MiSans"/>
                <a:ea typeface="MiSans"/>
              </a:rPr>
              <a:t>Scores Evidently, période 1 vs période 2 (distance de Wasserstein pour les variables numériques ; p-value K-S = 0,026 pour EXT_SOURCE_3). Les 5 dérives injectées + le score sont retrouvés.</a:t>
            </a:r>
            <a:endParaRPr lang="en-US" sz="1100" noProof="1"/>
          </a:p>
        </p:txBody>
      </p:sp>
      <p:sp>
        <p:nvSpPr>
          <p:cNvPr id="6" name="right-head"/>
          <p:cNvSpPr txBox="1"/>
          <p:nvPr/>
        </p:nvSpPr>
        <p:spPr>
          <a:xfrm>
            <a:off x="7620000" y="1498600"/>
            <a:ext cx="38608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Méthode</a:t>
            </a:r>
            <a:endParaRPr lang="en-US" sz="1200" noProof="1"/>
          </a:p>
        </p:txBody>
      </p:sp>
      <p:sp>
        <p:nvSpPr>
          <p:cNvPr id="7" name="right"/>
          <p:cNvSpPr txBox="1"/>
          <p:nvPr/>
        </p:nvSpPr>
        <p:spPr>
          <a:xfrm>
            <a:off x="7620000" y="1803400"/>
            <a:ext cx="3860800" cy="2286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a:t>
            </a:r>
            <a:r>
              <a:rPr lang="en-US" sz="1250" noProof="1" b="1">
                <a:solidFill>
                  <a:srgbClr val="33404D"/>
                </a:solidFill>
                <a:latin typeface="MiSans"/>
                <a:ea typeface="MiSans"/>
              </a:rPr>
              <a:t>Référence</a:t>
            </a:r>
            <a:r>
              <a:rPr lang="en-US" sz="1250" noProof="1">
                <a:solidFill>
                  <a:srgbClr val="33404D"/>
                </a:solidFill>
                <a:latin typeface="MiSans"/>
                <a:ea typeface="MiSans"/>
              </a:rPr>
              <a:t> : 5 000 lignes des données d'entraînement (partie 1)</a:t>
            </a:r>
            <a:endParaRPr lang="en-US" sz="1250" noProof="1"/>
          </a:p>
          <a:p>
            <a:pPr>
              <a:lnSpc>
                <a:spcPct val="145000"/>
              </a:lnSpc>
              <a:spcBef>
                <a:spcPts val="600"/>
              </a:spcBef>
            </a:pPr>
            <a:r>
              <a:rPr lang="en-US" sz="1250" noProof="1">
                <a:solidFill>
                  <a:srgbClr val="33404D"/>
                </a:solidFill>
                <a:latin typeface="MiSans"/>
                <a:ea typeface="MiSans"/>
              </a:rPr>
              <a:t>• </a:t>
            </a:r>
            <a:r>
              <a:rPr lang="en-US" sz="1250" noProof="1" b="1">
                <a:solidFill>
                  <a:srgbClr val="33404D"/>
                </a:solidFill>
                <a:latin typeface="MiSans"/>
                <a:ea typeface="MiSans"/>
              </a:rPr>
              <a:t>Courant</a:t>
            </a:r>
            <a:r>
              <a:rPr lang="en-US" sz="1250" noProof="1">
                <a:solidFill>
                  <a:srgbClr val="33404D"/>
                </a:solidFill>
                <a:latin typeface="MiSans"/>
                <a:ea typeface="MiSans"/>
              </a:rPr>
              <a:t> : inputs rejoués depuis la base de logs (1 900 succès)</a:t>
            </a:r>
            <a:endParaRPr lang="en-US" sz="1250" noProof="1"/>
          </a:p>
          <a:p>
            <a:pPr>
              <a:lnSpc>
                <a:spcPct val="145000"/>
              </a:lnSpc>
              <a:spcBef>
                <a:spcPts val="600"/>
              </a:spcBef>
            </a:pPr>
            <a:r>
              <a:rPr lang="en-US" sz="1250" noProof="1">
                <a:solidFill>
                  <a:srgbClr val="33404D"/>
                </a:solidFill>
                <a:latin typeface="MiSans"/>
                <a:ea typeface="MiSans"/>
              </a:rPr>
              <a:t>• Top ~30 features par importance + score prédit</a:t>
            </a:r>
            <a:endParaRPr lang="en-US" sz="1250" noProof="1"/>
          </a:p>
          <a:p>
            <a:pPr>
              <a:lnSpc>
                <a:spcPct val="145000"/>
              </a:lnSpc>
              <a:spcBef>
                <a:spcPts val="600"/>
              </a:spcBef>
            </a:pPr>
            <a:r>
              <a:rPr lang="en-US" sz="1250" noProof="1">
                <a:solidFill>
                  <a:srgbClr val="33404D"/>
                </a:solidFill>
                <a:latin typeface="MiSans"/>
                <a:ea typeface="MiSans"/>
              </a:rPr>
              <a:t>• Rapport complet : </a:t>
            </a:r>
            <a:r>
              <a:rPr lang="en-US" sz="1250" noProof="1">
                <a:solidFill>
                  <a:srgbClr val="33404D"/>
                </a:solidFill>
                <a:latin typeface="JetBrains Mono"/>
                <a:ea typeface="JetBrains Mono"/>
              </a:rPr>
              <a:t>monitoring/drift_report.html</a:t>
            </a:r>
            <a:endParaRPr lang="en-US" sz="1250" noProof="1"/>
          </a:p>
        </p:txBody>
      </p:sp>
      <p:sp>
        <p:nvSpPr>
          <p:cNvPr id="8" name="right2-head"/>
          <p:cNvSpPr txBox="1"/>
          <p:nvPr/>
        </p:nvSpPr>
        <p:spPr>
          <a:xfrm>
            <a:off x="7620000" y="4013200"/>
            <a:ext cx="38608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Points de vigilance</a:t>
            </a:r>
            <a:endParaRPr lang="en-US" sz="1200" noProof="1"/>
          </a:p>
        </p:txBody>
      </p:sp>
      <p:sp>
        <p:nvSpPr>
          <p:cNvPr id="9" name="right2"/>
          <p:cNvSpPr txBox="1"/>
          <p:nvPr/>
        </p:nvSpPr>
        <p:spPr>
          <a:xfrm>
            <a:off x="7620000" y="4318000"/>
            <a:ext cx="3860800" cy="1651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Dérive du </a:t>
            </a:r>
            <a:r>
              <a:rPr lang="en-US" sz="1250" noProof="1" b="1">
                <a:solidFill>
                  <a:srgbClr val="33404D"/>
                </a:solidFill>
                <a:latin typeface="MiSans"/>
                <a:ea typeface="MiSans"/>
              </a:rPr>
              <a:t>score</a:t>
            </a:r>
            <a:r>
              <a:rPr lang="en-US" sz="1250" noProof="1">
                <a:solidFill>
                  <a:srgbClr val="33404D"/>
                </a:solidFill>
                <a:latin typeface="MiSans"/>
                <a:ea typeface="MiSans"/>
              </a:rPr>
              <a:t> (0,217) = signal agrégé à surveiller en continu</a:t>
            </a:r>
            <a:endParaRPr lang="en-US" sz="1250" noProof="1"/>
          </a:p>
          <a:p>
            <a:pPr>
              <a:lnSpc>
                <a:spcPct val="145000"/>
              </a:lnSpc>
              <a:spcBef>
                <a:spcPts val="600"/>
              </a:spcBef>
            </a:pPr>
            <a:r>
              <a:rPr lang="en-US" sz="1250" noProof="1">
                <a:solidFill>
                  <a:srgbClr val="33404D"/>
                </a:solidFill>
                <a:latin typeface="MiSans"/>
                <a:ea typeface="MiSans"/>
              </a:rPr>
              <a:t>• Artefact identifié : </a:t>
            </a:r>
            <a:r>
              <a:rPr lang="en-US" sz="1250" noProof="1">
                <a:solidFill>
                  <a:srgbClr val="33404D"/>
                </a:solidFill>
                <a:latin typeface="JetBrains Mono"/>
                <a:ea typeface="JetBrains Mono"/>
              </a:rPr>
              <a:t>DAYS_EMPLOYED</a:t>
            </a:r>
            <a:r>
              <a:rPr lang="en-US" sz="1250" noProof="1">
                <a:solidFill>
                  <a:srgbClr val="33404D"/>
                </a:solidFill>
                <a:latin typeface="MiSans"/>
                <a:ea typeface="MiSans"/>
              </a:rPr>
              <a:t> (sentinelle 365243) — dérive technique, pas métier</a:t>
            </a:r>
            <a:endParaRPr lang="en-US" sz="1250" noProof="1"/>
          </a:p>
          <a:p>
            <a:pPr>
              <a:lnSpc>
                <a:spcPct val="145000"/>
              </a:lnSpc>
              <a:spcBef>
                <a:spcPts val="600"/>
              </a:spcBef>
            </a:pPr>
            <a:r>
              <a:rPr lang="en-US" sz="1250" noProof="1">
                <a:solidFill>
                  <a:srgbClr val="33404D"/>
                </a:solidFill>
                <a:latin typeface="MiSans"/>
                <a:ea typeface="MiSans"/>
              </a:rPr>
              <a:t>• Seuil d'action proposé : dérive persistante → ré-entraînement et recalibration du seuil 0,45</a:t>
            </a:r>
            <a:endParaRPr lang="en-US" sz="1250" noProof="1"/>
          </a:p>
        </p:txBody>
      </p:sp>
      <p:sp>
        <p:nvSpPr>
          <p:cNvPr id="10"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11"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10</a:t>
            </a:r>
            <a:endParaRPr lang="en-US" sz="1100" noProof="1"/>
          </a:p>
        </p:txBody>
      </p:sp>
    </p:spTree>
  </p:cSld>
  <p:clrMapOvr>
    <a:masterClrMapping/>
  </p:clrMapOvr>
</p:sld>
</file>

<file path=ppt/slides/slide1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Dashboard de monitoring : scores, latence, erreurs, dérive</a:t>
            </a:r>
            <a:endParaRPr lang="en-US" sz="2600" noProof="1"/>
          </a:p>
        </p:txBody>
      </p:sp>
      <p:pic>
        <p:nvPicPr>
          <p:cNvPr id="4" name="img"/>
          <p:cNvPicPr/>
          <p:nvPr/>
        </p:nvPicPr>
        <p:blipFill>
          <a:blip r:embed="rId2"/>
          <a:srcRect t="-68" b="-68"/>
          <a:stretch>
            <a:fillRect/>
          </a:stretch>
        </p:blipFill>
        <p:spPr>
          <a:xfrm>
            <a:off x="711200" y="1473200"/>
            <a:ext cx="7112000" cy="4140200"/>
          </a:xfrm>
          <a:prstGeom prst="rect">
            <a:avLst/>
          </a:prstGeom>
          <a:ln>
            <a:noFill/>
          </a:ln>
        </p:spPr>
      </p:pic>
      <p:sp>
        <p:nvSpPr>
          <p:cNvPr id="5" name="img-border"/>
          <p:cNvSpPr/>
          <p:nvPr/>
        </p:nvSpPr>
        <p:spPr>
          <a:xfrm>
            <a:off x="711200" y="1473200"/>
            <a:ext cx="7112000" cy="4140200"/>
          </a:xfrm>
          <a:prstGeom prst="rect">
            <a:avLst/>
          </a:prstGeom>
          <a:noFill/>
          <a:ln w="12700">
            <a:solidFill>
              <a:srgbClr val="D8DEE4"/>
            </a:solidFill>
          </a:ln>
        </p:spPr>
      </p:sp>
      <p:sp>
        <p:nvSpPr>
          <p:cNvPr id="6" name="right"/>
          <p:cNvSpPr txBox="1"/>
          <p:nvPr/>
        </p:nvSpPr>
        <p:spPr>
          <a:xfrm>
            <a:off x="8229600" y="1549400"/>
            <a:ext cx="3251200" cy="4724400"/>
          </a:xfrm>
          <a:prstGeom prst="rect">
            <a:avLst/>
          </a:prstGeom>
          <a:noFill/>
          <a:ln>
            <a:noFill/>
          </a:ln>
        </p:spPr>
        <p:txBody>
          <a:bodyPr lIns="0" rIns="0" tIns="0" bIns="0" wrap="square" rtlCol="0"/>
          <a:lstStyle/>
          <a:p>
            <a:pPr>
              <a:lnSpc>
                <a:spcPct val="145000"/>
              </a:lnSpc>
            </a:pPr>
            <a:r>
              <a:rPr lang="en-US" sz="1150" noProof="1" b="1">
                <a:solidFill>
                  <a:srgbClr val="33404D"/>
                </a:solidFill>
                <a:latin typeface="MiSans"/>
                <a:ea typeface="MiSans"/>
              </a:rPr>
              <a:t>Streamlit</a:t>
            </a:r>
            <a:r>
              <a:rPr lang="en-US" sz="1150" noProof="1">
                <a:solidFill>
                  <a:srgbClr val="33404D"/>
                </a:solidFill>
                <a:latin typeface="MiSans"/>
                <a:ea typeface="MiSans"/>
              </a:rPr>
              <a:t> — </a:t>
            </a:r>
            <a:r>
              <a:rPr lang="en-US" sz="1150" noProof="1">
                <a:solidFill>
                  <a:srgbClr val="33404D"/>
                </a:solidFill>
                <a:latin typeface="JetBrains Mono"/>
                <a:ea typeface="JetBrains Mono"/>
              </a:rPr>
              <a:t>streamlit run monitoring/dashboard.py</a:t>
            </a:r>
            <a:endParaRPr lang="en-US" sz="1150" noProof="1"/>
          </a:p>
          <a:p>
            <a:pPr>
              <a:lnSpc>
                <a:spcPct val="145000"/>
              </a:lnSpc>
              <a:spcBef>
                <a:spcPts val="1000"/>
              </a:spcBef>
            </a:pPr>
            <a:r>
              <a:rPr lang="en-US" sz="1150" noProof="1">
                <a:solidFill>
                  <a:srgbClr val="33404D"/>
                </a:solidFill>
                <a:latin typeface="MiSans"/>
                <a:ea typeface="MiSans"/>
              </a:rPr>
              <a:t>• KPIs : requêtes, taux d'erreur, latence moyenne / p95, % refusés</a:t>
            </a:r>
            <a:endParaRPr lang="en-US" sz="1150" noProof="1"/>
          </a:p>
          <a:p>
            <a:pPr>
              <a:lnSpc>
                <a:spcPct val="145000"/>
              </a:lnSpc>
              <a:spcBef>
                <a:spcPts val="800"/>
              </a:spcBef>
            </a:pPr>
            <a:r>
              <a:rPr lang="en-US" sz="1150" noProof="1">
                <a:solidFill>
                  <a:srgbClr val="33404D"/>
                </a:solidFill>
                <a:latin typeface="MiSans"/>
                <a:ea typeface="MiSans"/>
              </a:rPr>
              <a:t>• Distribution des scores prédits, seuil métier 0,45 matérialisé</a:t>
            </a:r>
            <a:endParaRPr lang="en-US" sz="1150" noProof="1"/>
          </a:p>
          <a:p>
            <a:pPr>
              <a:lnSpc>
                <a:spcPct val="145000"/>
              </a:lnSpc>
              <a:spcBef>
                <a:spcPts val="800"/>
              </a:spcBef>
            </a:pPr>
            <a:r>
              <a:rPr lang="en-US" sz="1150" noProof="1">
                <a:solidFill>
                  <a:srgbClr val="33404D"/>
                </a:solidFill>
                <a:latin typeface="MiSans"/>
                <a:ea typeface="MiSans"/>
              </a:rPr>
              <a:t>• Latence API dans le temps (moyenne glissante)</a:t>
            </a:r>
            <a:endParaRPr lang="en-US" sz="1150" noProof="1"/>
          </a:p>
          <a:p>
            <a:pPr>
              <a:lnSpc>
                <a:spcPct val="145000"/>
              </a:lnSpc>
              <a:spcBef>
                <a:spcPts val="800"/>
              </a:spcBef>
            </a:pPr>
            <a:r>
              <a:rPr lang="en-US" sz="1150" noProof="1">
                <a:solidFill>
                  <a:srgbClr val="33404D"/>
                </a:solidFill>
                <a:latin typeface="MiSans"/>
                <a:ea typeface="MiSans"/>
              </a:rPr>
              <a:t>• Répartition des décisions accordé / refusé</a:t>
            </a:r>
            <a:endParaRPr lang="en-US" sz="1150" noProof="1"/>
          </a:p>
          <a:p>
            <a:pPr>
              <a:lnSpc>
                <a:spcPct val="145000"/>
              </a:lnSpc>
              <a:spcBef>
                <a:spcPts val="800"/>
              </a:spcBef>
            </a:pPr>
            <a:r>
              <a:rPr lang="en-US" sz="1150" noProof="1">
                <a:solidFill>
                  <a:srgbClr val="33404D"/>
                </a:solidFill>
                <a:latin typeface="MiSans"/>
                <a:ea typeface="MiSans"/>
              </a:rPr>
              <a:t>• Taux d'erreur par paquet de requêtes : cible 5 %, dépassement en rouge ; pic final = tests manuels identifiés</a:t>
            </a:r>
            <a:endParaRPr lang="en-US" sz="1150" noProof="1"/>
          </a:p>
          <a:p>
            <a:pPr>
              <a:lnSpc>
                <a:spcPct val="145000"/>
              </a:lnSpc>
              <a:spcBef>
                <a:spcPts val="800"/>
              </a:spcBef>
            </a:pPr>
            <a:r>
              <a:rPr lang="en-US" sz="1150" noProof="1">
                <a:solidFill>
                  <a:srgbClr val="33404D"/>
                </a:solidFill>
                <a:latin typeface="MiSans"/>
                <a:ea typeface="MiSans"/>
              </a:rPr>
              <a:t>• Table des colonnes en dérive (issue de l'analyse Evidently)</a:t>
            </a:r>
            <a:endParaRPr lang="en-US" sz="1150" noProof="1"/>
          </a:p>
          <a:p>
            <a:pPr>
              <a:lnSpc>
                <a:spcPct val="145000"/>
              </a:lnSpc>
              <a:spcBef>
                <a:spcPts val="1200"/>
              </a:spcBef>
            </a:pPr>
            <a:r>
              <a:rPr lang="en-US" sz="1050" noProof="1">
                <a:solidFill>
                  <a:srgbClr val="6B7683"/>
                </a:solidFill>
                <a:latin typeface="MiSans"/>
                <a:ea typeface="MiSans"/>
              </a:rPr>
              <a:t>Données lues directement depuis la base SQLite de production ; rafraîchissement à la demande.</a:t>
            </a:r>
            <a:endParaRPr lang="en-US" sz="1150" noProof="1"/>
          </a:p>
        </p:txBody>
      </p:sp>
      <p:sp>
        <p:nvSpPr>
          <p:cNvPr id="7"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8"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11</a:t>
            </a:r>
            <a:endParaRPr lang="en-US" sz="1100" noProof="1"/>
          </a:p>
        </p:txBody>
      </p:sp>
    </p:spTree>
  </p:cSld>
  <p:clrMapOvr>
    <a:masterClrMapping/>
  </p:clrMapOvr>
</p:sld>
</file>

<file path=ppt/slides/slide1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Optimisation : le goulot était pandas, pas le modèle — ONNX retenu (×201)</a:t>
            </a:r>
            <a:endParaRPr lang="en-US" sz="2600" noProof="1"/>
          </a:p>
        </p:txBody>
      </p:sp>
      <p:graphicFrame>
        <p:nvGraphicFramePr>
          <p:cNvPr id="4" name="chart"/>
          <p:cNvGraphicFramePr/>
          <p:nvPr/>
        </p:nvGraphicFramePr>
        <p:xfrm>
          <a:off x="711200" y="1549400"/>
          <a:ext cx="5969000" cy="3810000"/>
        </p:xfrm>
        <a:graphic>
          <a:graphicData uri="http://schemas.openxmlformats.org/drawingml/2006/chart">
            <c:chart r:id="rId2"/>
          </a:graphicData>
        </a:graphic>
      </p:graphicFrame>
      <p:sp>
        <p:nvSpPr>
          <p:cNvPr id="5" name="chart-cap"/>
          <p:cNvSpPr txBox="1"/>
          <p:nvPr/>
        </p:nvSpPr>
        <p:spPr>
          <a:xfrm>
            <a:off x="711200" y="5435600"/>
            <a:ext cx="5969000" cy="635000"/>
          </a:xfrm>
          <a:prstGeom prst="rect">
            <a:avLst/>
          </a:prstGeom>
          <a:noFill/>
          <a:ln>
            <a:noFill/>
          </a:ln>
        </p:spPr>
        <p:txBody>
          <a:bodyPr lIns="0" rIns="0" tIns="0" bIns="0" wrap="square" rtlCol="0"/>
          <a:lstStyle/>
          <a:p>
            <a:pPr>
              <a:lnSpc>
                <a:spcPct val="135000"/>
              </a:lnSpc>
            </a:pPr>
            <a:r>
              <a:rPr lang="en-US" sz="1100" noProof="1">
                <a:solidFill>
                  <a:srgbClr val="6B7683"/>
                </a:solidFill>
                <a:latin typeface="MiSans"/>
                <a:ea typeface="MiSans"/>
              </a:rPr>
              <a:t>Latence médiane par prédiction (≥ 50 répétitions, warmup ; Windows 11, CPU 16 cœurs, Python 3.12). Chiffres : optimization/benchmarks.json.</a:t>
            </a:r>
            <a:endParaRPr lang="en-US" sz="1100" noProof="1"/>
          </a:p>
        </p:txBody>
      </p:sp>
      <p:sp>
        <p:nvSpPr>
          <p:cNvPr id="6" name="right"/>
          <p:cNvSpPr txBox="1"/>
          <p:nvPr/>
        </p:nvSpPr>
        <p:spPr>
          <a:xfrm>
            <a:off x="7188200" y="1549400"/>
            <a:ext cx="4292600" cy="3048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a:t>
            </a:r>
            <a:r>
              <a:rPr lang="en-US" sz="1250" noProof="1" b="1">
                <a:solidFill>
                  <a:srgbClr val="33404D"/>
                </a:solidFill>
                <a:latin typeface="MiSans"/>
                <a:ea typeface="MiSans"/>
              </a:rPr>
              <a:t>Profiling cProfile</a:t>
            </a:r>
            <a:r>
              <a:rPr lang="en-US" sz="1250" noProof="1">
                <a:solidFill>
                  <a:srgbClr val="33404D"/>
                </a:solidFill>
                <a:latin typeface="MiSans"/>
                <a:ea typeface="MiSans"/>
              </a:rPr>
              <a:t> : la coercion pandas concentre 84 % du temps cumulé — le modèle n'était pas le goulot</a:t>
            </a:r>
            <a:endParaRPr lang="en-US" sz="1250" noProof="1"/>
          </a:p>
          <a:p>
            <a:pPr>
              <a:lnSpc>
                <a:spcPct val="145000"/>
              </a:lnSpc>
              <a:spcBef>
                <a:spcPts val="800"/>
              </a:spcBef>
            </a:pPr>
            <a:r>
              <a:rPr lang="en-US" sz="1250" noProof="1">
                <a:solidFill>
                  <a:srgbClr val="33404D"/>
                </a:solidFill>
                <a:latin typeface="MiSans"/>
                <a:ea typeface="MiSans"/>
              </a:rPr>
              <a:t>• </a:t>
            </a:r>
            <a:r>
              <a:rPr lang="en-US" sz="1250" noProof="1" b="1">
                <a:solidFill>
                  <a:srgbClr val="33404D"/>
                </a:solidFill>
                <a:latin typeface="MiSans"/>
                <a:ea typeface="MiSans"/>
              </a:rPr>
              <a:t>ONNX Runtime CPU</a:t>
            </a:r>
            <a:r>
              <a:rPr lang="en-US" sz="1250" noProof="1">
                <a:solidFill>
                  <a:srgbClr val="33404D"/>
                </a:solidFill>
                <a:latin typeface="MiSans"/>
                <a:ea typeface="MiSans"/>
              </a:rPr>
              <a:t> : 0,016 ms / prédiction (× 201 vs chemin naïf) ; batch 1 000 : 6,3 ms vs 16,6 ms sklearn</a:t>
            </a:r>
            <a:endParaRPr lang="en-US" sz="1250" noProof="1"/>
          </a:p>
          <a:p>
            <a:pPr>
              <a:lnSpc>
                <a:spcPct val="145000"/>
              </a:lnSpc>
              <a:spcBef>
                <a:spcPts val="800"/>
              </a:spcBef>
            </a:pPr>
            <a:r>
              <a:rPr lang="en-US" sz="1250" noProof="1">
                <a:solidFill>
                  <a:srgbClr val="33404D"/>
                </a:solidFill>
                <a:latin typeface="MiSans"/>
                <a:ea typeface="MiSans"/>
              </a:rPr>
              <a:t>• </a:t>
            </a:r>
            <a:r>
              <a:rPr lang="en-US" sz="1250" noProof="1" b="1">
                <a:solidFill>
                  <a:srgbClr val="33404D"/>
                </a:solidFill>
                <a:latin typeface="MiSans"/>
                <a:ea typeface="MiSans"/>
              </a:rPr>
              <a:t>Non-régression vérifiée</a:t>
            </a:r>
            <a:r>
              <a:rPr lang="en-US" sz="1250" noProof="1">
                <a:solidFill>
                  <a:srgbClr val="33404D"/>
                </a:solidFill>
                <a:latin typeface="MiSans"/>
                <a:ea typeface="MiSans"/>
              </a:rPr>
              <a:t> : écart max des probabilités 2,3 × 10⁻⁷ sur 1 000 lignes, 0 décision divergente au seuil 0,45</a:t>
            </a:r>
            <a:endParaRPr lang="en-US" sz="1250" noProof="1"/>
          </a:p>
          <a:p>
            <a:pPr>
              <a:lnSpc>
                <a:spcPct val="145000"/>
              </a:lnSpc>
              <a:spcBef>
                <a:spcPts val="800"/>
              </a:spcBef>
            </a:pPr>
            <a:r>
              <a:rPr lang="en-US" sz="1250" noProof="1">
                <a:solidFill>
                  <a:srgbClr val="33404D"/>
                </a:solidFill>
                <a:latin typeface="MiSans"/>
                <a:ea typeface="MiSans"/>
              </a:rPr>
              <a:t>• </a:t>
            </a:r>
            <a:r>
              <a:rPr lang="en-US" sz="1250" noProof="1" b="1">
                <a:solidFill>
                  <a:srgbClr val="33404D"/>
                </a:solidFill>
                <a:latin typeface="MiSans"/>
                <a:ea typeface="MiSans"/>
              </a:rPr>
              <a:t>Intégré à l'API</a:t>
            </a:r>
            <a:r>
              <a:rPr lang="en-US" sz="1250" noProof="1">
                <a:solidFill>
                  <a:srgbClr val="33404D"/>
                </a:solidFill>
                <a:latin typeface="MiSans"/>
                <a:ea typeface="MiSans"/>
              </a:rPr>
              <a:t> : modèle ONNX + vecteur numpy direct ; repli LightGBM automatique. Latence endpoint à chaud : ~26 ms → ~0,8 ms (× 9)</a:t>
            </a:r>
            <a:endParaRPr lang="en-US" sz="1250" noProof="1"/>
          </a:p>
          <a:p>
            <a:pPr>
              <a:lnSpc>
                <a:spcPct val="145000"/>
              </a:lnSpc>
              <a:spcBef>
                <a:spcPts val="800"/>
              </a:spcBef>
            </a:pPr>
            <a:r>
              <a:rPr lang="en-US" sz="1250" noProof="1">
                <a:solidFill>
                  <a:srgbClr val="33404D"/>
                </a:solidFill>
                <a:latin typeface="MiSans"/>
                <a:ea typeface="MiSans"/>
              </a:rPr>
              <a:t>• Modèle ONNX 32 % plus léger (5,6 Mo vs 8,3 Mo)</a:t>
            </a:r>
            <a:endParaRPr lang="en-US" sz="1250" noProof="1"/>
          </a:p>
        </p:txBody>
      </p:sp>
      <p:sp>
        <p:nvSpPr>
          <p:cNvPr id="7" name="verdict-box"/>
          <p:cNvSpPr/>
          <p:nvPr/>
        </p:nvSpPr>
        <p:spPr>
          <a:xfrm>
            <a:off x="7188200" y="4826000"/>
            <a:ext cx="4292600" cy="711200"/>
          </a:xfrm>
          <a:prstGeom prst="rect">
            <a:avLst/>
          </a:prstGeom>
          <a:solidFill>
            <a:srgbClr val="F4F6F8"/>
          </a:solidFill>
          <a:ln>
            <a:noFill/>
          </a:ln>
        </p:spPr>
      </p:sp>
      <p:sp>
        <p:nvSpPr>
          <p:cNvPr id="8" name="verdict-bar"/>
          <p:cNvSpPr/>
          <p:nvPr/>
        </p:nvSpPr>
        <p:spPr>
          <a:xfrm>
            <a:off x="7188200" y="4826000"/>
            <a:ext cx="50800" cy="711200"/>
          </a:xfrm>
          <a:prstGeom prst="rect">
            <a:avLst/>
          </a:prstGeom>
          <a:solidFill>
            <a:srgbClr val="C96A1B"/>
          </a:solidFill>
          <a:ln>
            <a:noFill/>
          </a:ln>
        </p:spPr>
      </p:sp>
      <p:sp>
        <p:nvSpPr>
          <p:cNvPr id="9" name="verdict"/>
          <p:cNvSpPr txBox="1"/>
          <p:nvPr/>
        </p:nvSpPr>
        <p:spPr>
          <a:xfrm>
            <a:off x="7416800" y="4927600"/>
            <a:ext cx="3937000" cy="533400"/>
          </a:xfrm>
          <a:prstGeom prst="rect">
            <a:avLst/>
          </a:prstGeom>
          <a:noFill/>
          <a:ln>
            <a:noFill/>
          </a:ln>
        </p:spPr>
        <p:txBody>
          <a:bodyPr lIns="0" rIns="0" tIns="0" bIns="0" wrap="square" rtlCol="0"/>
          <a:lstStyle/>
          <a:p>
            <a:pPr>
              <a:lnSpc>
                <a:spcPct val="120000"/>
              </a:lnSpc>
            </a:pPr>
            <a:r>
              <a:rPr lang="en-US" sz="1200" noProof="1" b="1">
                <a:solidFill>
                  <a:srgbClr val="16324F"/>
                </a:solidFill>
                <a:latin typeface="MiSans"/>
                <a:ea typeface="MiSans"/>
              </a:rPr>
              <a:t>Configuration finale justifiée :</a:t>
            </a:r>
            <a:r>
              <a:rPr lang="en-US" sz="1200" noProof="1">
                <a:solidFill>
                  <a:srgbClr val="16324F"/>
                </a:solidFill>
                <a:latin typeface="MiSans"/>
                <a:ea typeface="MiSans"/>
              </a:rPr>
              <a:t> ONNX Runtime CPU + numpy — la plus rapide, sans dépendance GPU, déjà déployée via le pipeline CI/CD.</a:t>
            </a:r>
            <a:endParaRPr lang="en-US" sz="1200" noProof="1"/>
          </a:p>
        </p:txBody>
      </p:sp>
      <p:sp>
        <p:nvSpPr>
          <p:cNvPr id="10"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11"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12</a:t>
            </a:r>
            <a:endParaRPr lang="en-US" sz="1100" noProof="1"/>
          </a:p>
        </p:txBody>
      </p:sp>
    </p:spTree>
  </p:cSld>
  <p:clrMapOvr>
    <a:masterClrMapping/>
  </p:clrMapOvr>
</p:sld>
</file>

<file path=ppt/slides/slide1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Dépôt GitHub : structuré, documenté, historique de commits explicite</a:t>
            </a:r>
            <a:endParaRPr lang="en-US" sz="2600" noProof="1"/>
          </a:p>
        </p:txBody>
      </p:sp>
      <p:sp>
        <p:nvSpPr>
          <p:cNvPr id="4" name="gh-icon"/>
          <p:cNvSpPr/>
          <p:nvPr>
            <p:extLst>
              <p:ext uri="{F5677B7D-0D2A-4D9B-9A5C-6D8D7D0E5A5D}">
                <pptd:icon encoding="base64url">eyJpY29uTmFtZSI6ImZhYjpnaXRodWIifQ</pptd:icon>
              </p:ext>
            </p:extLst>
          </p:nvPr>
        </p:nvSpPr>
        <p:spPr>
          <a:xfrm>
            <a:off x="711200" y="1524000"/>
            <a:ext cx="330200" cy="330200"/>
          </a:xfrm>
          <a:custGeom>
            <a:avLst/>
            <a:gdLst/>
            <a:ahLst/>
            <a:cxnLst/>
            <a:rect l="l" t="t" r="r" b="b"/>
            <a:pathLst>
              <a:path w="512" h="512">
                <a:moveTo>
                  <a:pt x="174" y="397"/>
                </a:moveTo>
                <a:cubicBezTo>
                  <a:pt x="174" y="399"/>
                  <a:pt x="172" y="401"/>
                  <a:pt x="169" y="401"/>
                </a:cubicBezTo>
                <a:cubicBezTo>
                  <a:pt x="165" y="401"/>
                  <a:pt x="163" y="400"/>
                  <a:pt x="163" y="397"/>
                </a:cubicBezTo>
                <a:cubicBezTo>
                  <a:pt x="163" y="395"/>
                  <a:pt x="165" y="394"/>
                  <a:pt x="168" y="394"/>
                </a:cubicBezTo>
                <a:cubicBezTo>
                  <a:pt x="171" y="393"/>
                  <a:pt x="174" y="395"/>
                  <a:pt x="174" y="397"/>
                </a:cubicBezTo>
                <a:close/>
              </a:path>
              <a:path w="512" h="512">
                <a:moveTo>
                  <a:pt x="143" y="393"/>
                </a:moveTo>
                <a:cubicBezTo>
                  <a:pt x="142" y="395"/>
                  <a:pt x="144" y="397"/>
                  <a:pt x="147" y="398"/>
                </a:cubicBezTo>
                <a:cubicBezTo>
                  <a:pt x="150" y="399"/>
                  <a:pt x="153" y="398"/>
                  <a:pt x="153" y="396"/>
                </a:cubicBezTo>
                <a:cubicBezTo>
                  <a:pt x="154" y="394"/>
                  <a:pt x="152" y="391"/>
                  <a:pt x="149" y="391"/>
                </a:cubicBezTo>
                <a:cubicBezTo>
                  <a:pt x="146" y="390"/>
                  <a:pt x="144" y="391"/>
                  <a:pt x="143" y="393"/>
                </a:cubicBezTo>
                <a:close/>
              </a:path>
              <a:path w="512" h="512">
                <a:moveTo>
                  <a:pt x="187" y="391"/>
                </a:moveTo>
                <a:cubicBezTo>
                  <a:pt x="184" y="392"/>
                  <a:pt x="182" y="394"/>
                  <a:pt x="182" y="396"/>
                </a:cubicBezTo>
                <a:cubicBezTo>
                  <a:pt x="183" y="398"/>
                  <a:pt x="185" y="399"/>
                  <a:pt x="188" y="399"/>
                </a:cubicBezTo>
                <a:cubicBezTo>
                  <a:pt x="191" y="398"/>
                  <a:pt x="193" y="396"/>
                  <a:pt x="193" y="394"/>
                </a:cubicBezTo>
                <a:cubicBezTo>
                  <a:pt x="193" y="392"/>
                  <a:pt x="190" y="391"/>
                  <a:pt x="187" y="391"/>
                </a:cubicBezTo>
                <a:close/>
              </a:path>
              <a:path w="512" h="512">
                <a:moveTo>
                  <a:pt x="253" y="8"/>
                </a:moveTo>
                <a:cubicBezTo>
                  <a:pt x="114" y="8"/>
                  <a:pt x="8" y="113"/>
                  <a:pt x="8" y="252"/>
                </a:cubicBezTo>
                <a:cubicBezTo>
                  <a:pt x="8" y="363"/>
                  <a:pt x="78" y="458"/>
                  <a:pt x="178" y="491"/>
                </a:cubicBezTo>
                <a:cubicBezTo>
                  <a:pt x="190" y="494"/>
                  <a:pt x="195" y="486"/>
                  <a:pt x="195" y="479"/>
                </a:cubicBezTo>
                <a:cubicBezTo>
                  <a:pt x="195" y="473"/>
                  <a:pt x="195" y="439"/>
                  <a:pt x="195" y="418"/>
                </a:cubicBezTo>
                <a:cubicBezTo>
                  <a:pt x="195" y="418"/>
                  <a:pt x="125" y="433"/>
                  <a:pt x="110" y="388"/>
                </a:cubicBezTo>
                <a:cubicBezTo>
                  <a:pt x="110" y="388"/>
                  <a:pt x="98" y="359"/>
                  <a:pt x="82" y="351"/>
                </a:cubicBezTo>
                <a:cubicBezTo>
                  <a:pt x="82" y="351"/>
                  <a:pt x="59" y="336"/>
                  <a:pt x="84" y="336"/>
                </a:cubicBezTo>
                <a:cubicBezTo>
                  <a:pt x="84" y="336"/>
                  <a:pt x="109" y="338"/>
                  <a:pt x="122" y="362"/>
                </a:cubicBezTo>
                <a:cubicBezTo>
                  <a:pt x="144" y="400"/>
                  <a:pt x="181" y="389"/>
                  <a:pt x="195" y="383"/>
                </a:cubicBezTo>
                <a:cubicBezTo>
                  <a:pt x="197" y="367"/>
                  <a:pt x="204" y="355"/>
                  <a:pt x="211" y="349"/>
                </a:cubicBezTo>
                <a:cubicBezTo>
                  <a:pt x="155" y="343"/>
                  <a:pt x="99" y="335"/>
                  <a:pt x="99" y="238"/>
                </a:cubicBezTo>
                <a:cubicBezTo>
                  <a:pt x="99" y="211"/>
                  <a:pt x="106" y="197"/>
                  <a:pt x="122" y="179"/>
                </a:cubicBezTo>
                <a:cubicBezTo>
                  <a:pt x="120" y="173"/>
                  <a:pt x="111" y="146"/>
                  <a:pt x="125" y="112"/>
                </a:cubicBezTo>
                <a:cubicBezTo>
                  <a:pt x="146" y="105"/>
                  <a:pt x="194" y="139"/>
                  <a:pt x="194" y="139"/>
                </a:cubicBezTo>
                <a:cubicBezTo>
                  <a:pt x="214" y="133"/>
                  <a:pt x="236" y="130"/>
                  <a:pt x="257" y="130"/>
                </a:cubicBezTo>
                <a:cubicBezTo>
                  <a:pt x="278" y="130"/>
                  <a:pt x="300" y="133"/>
                  <a:pt x="320" y="139"/>
                </a:cubicBezTo>
                <a:cubicBezTo>
                  <a:pt x="320" y="139"/>
                  <a:pt x="368" y="105"/>
                  <a:pt x="389" y="112"/>
                </a:cubicBezTo>
                <a:cubicBezTo>
                  <a:pt x="402" y="146"/>
                  <a:pt x="394" y="173"/>
                  <a:pt x="391" y="179"/>
                </a:cubicBezTo>
                <a:cubicBezTo>
                  <a:pt x="407" y="197"/>
                  <a:pt x="417" y="211"/>
                  <a:pt x="417" y="238"/>
                </a:cubicBezTo>
                <a:cubicBezTo>
                  <a:pt x="417" y="335"/>
                  <a:pt x="358" y="343"/>
                  <a:pt x="302" y="349"/>
                </a:cubicBezTo>
                <a:cubicBezTo>
                  <a:pt x="311" y="357"/>
                  <a:pt x="319" y="372"/>
                  <a:pt x="319" y="395"/>
                </a:cubicBezTo>
                <a:cubicBezTo>
                  <a:pt x="319" y="429"/>
                  <a:pt x="319" y="471"/>
                  <a:pt x="319" y="479"/>
                </a:cubicBezTo>
                <a:cubicBezTo>
                  <a:pt x="319" y="485"/>
                  <a:pt x="324" y="493"/>
                  <a:pt x="336" y="491"/>
                </a:cubicBezTo>
                <a:cubicBezTo>
                  <a:pt x="436" y="458"/>
                  <a:pt x="504" y="363"/>
                  <a:pt x="504" y="252"/>
                </a:cubicBezTo>
                <a:cubicBezTo>
                  <a:pt x="504" y="113"/>
                  <a:pt x="392" y="8"/>
                  <a:pt x="253" y="8"/>
                </a:cubicBezTo>
                <a:close/>
              </a:path>
              <a:path w="512" h="512">
                <a:moveTo>
                  <a:pt x="105" y="353"/>
                </a:moveTo>
                <a:cubicBezTo>
                  <a:pt x="104" y="354"/>
                  <a:pt x="104" y="356"/>
                  <a:pt x="106" y="358"/>
                </a:cubicBezTo>
                <a:cubicBezTo>
                  <a:pt x="108" y="360"/>
                  <a:pt x="110" y="360"/>
                  <a:pt x="111" y="359"/>
                </a:cubicBezTo>
                <a:cubicBezTo>
                  <a:pt x="112" y="358"/>
                  <a:pt x="112" y="356"/>
                  <a:pt x="110" y="354"/>
                </a:cubicBezTo>
                <a:cubicBezTo>
                  <a:pt x="109" y="352"/>
                  <a:pt x="107" y="352"/>
                  <a:pt x="105" y="353"/>
                </a:cubicBezTo>
                <a:close/>
              </a:path>
              <a:path w="512" h="512">
                <a:moveTo>
                  <a:pt x="94" y="345"/>
                </a:moveTo>
                <a:cubicBezTo>
                  <a:pt x="94" y="346"/>
                  <a:pt x="95" y="348"/>
                  <a:pt x="97" y="349"/>
                </a:cubicBezTo>
                <a:cubicBezTo>
                  <a:pt x="98" y="350"/>
                  <a:pt x="100" y="349"/>
                  <a:pt x="101" y="348"/>
                </a:cubicBezTo>
                <a:cubicBezTo>
                  <a:pt x="102" y="347"/>
                  <a:pt x="101" y="345"/>
                  <a:pt x="99" y="344"/>
                </a:cubicBezTo>
                <a:cubicBezTo>
                  <a:pt x="97" y="343"/>
                  <a:pt x="95" y="344"/>
                  <a:pt x="94" y="345"/>
                </a:cubicBezTo>
                <a:close/>
              </a:path>
              <a:path w="512" h="512">
                <a:moveTo>
                  <a:pt x="127" y="380"/>
                </a:moveTo>
                <a:cubicBezTo>
                  <a:pt x="125" y="382"/>
                  <a:pt x="126" y="385"/>
                  <a:pt x="128" y="387"/>
                </a:cubicBezTo>
                <a:cubicBezTo>
                  <a:pt x="130" y="389"/>
                  <a:pt x="133" y="389"/>
                  <a:pt x="135" y="388"/>
                </a:cubicBezTo>
                <a:cubicBezTo>
                  <a:pt x="136" y="386"/>
                  <a:pt x="135" y="383"/>
                  <a:pt x="133" y="381"/>
                </a:cubicBezTo>
                <a:cubicBezTo>
                  <a:pt x="131" y="379"/>
                  <a:pt x="128" y="379"/>
                  <a:pt x="127" y="380"/>
                </a:cubicBezTo>
                <a:close/>
              </a:path>
              <a:path w="512" h="512">
                <a:moveTo>
                  <a:pt x="115" y="366"/>
                </a:moveTo>
                <a:cubicBezTo>
                  <a:pt x="114" y="367"/>
                  <a:pt x="114" y="369"/>
                  <a:pt x="115" y="372"/>
                </a:cubicBezTo>
                <a:cubicBezTo>
                  <a:pt x="117" y="374"/>
                  <a:pt x="120" y="375"/>
                  <a:pt x="121" y="374"/>
                </a:cubicBezTo>
                <a:cubicBezTo>
                  <a:pt x="123" y="373"/>
                  <a:pt x="123" y="370"/>
                  <a:pt x="121" y="368"/>
                </a:cubicBezTo>
                <a:cubicBezTo>
                  <a:pt x="120" y="365"/>
                  <a:pt x="117" y="364"/>
                  <a:pt x="115" y="366"/>
                </a:cubicBezTo>
                <a:close/>
              </a:path>
            </a:pathLst>
          </a:custGeom>
          <a:solidFill>
            <a:srgbClr val="16324F"/>
          </a:solidFill>
          <a:ln>
            <a:noFill/>
          </a:ln>
        </p:spPr>
      </p:sp>
      <p:sp>
        <p:nvSpPr>
          <p:cNvPr id="5" name="gh-link"/>
          <p:cNvSpPr txBox="1"/>
          <p:nvPr/>
        </p:nvSpPr>
        <p:spPr>
          <a:xfrm>
            <a:off x="1193800" y="1524000"/>
            <a:ext cx="7112000" cy="330200"/>
          </a:xfrm>
          <a:prstGeom prst="rect">
            <a:avLst/>
          </a:prstGeom>
          <a:noFill/>
          <a:ln>
            <a:noFill/>
          </a:ln>
        </p:spPr>
        <p:txBody>
          <a:bodyPr lIns="0" rIns="0" tIns="0" bIns="0" wrap="none" rtlCol="0"/>
          <a:lstStyle/>
          <a:p>
            <a:pPr>
              <a:lnSpc>
                <a:spcPct val="120000"/>
              </a:lnSpc>
            </a:pPr>
            <a:r>
              <a:rPr lang="en-US" sz="1400" noProof="1" u="sng">
                <a:solidFill>
                  <a:srgbClr val="0563C1"/>
                </a:solidFill>
                <a:latin typeface="MiSans"/>
                <a:ea typeface="MiSans"/>
                <a:hlinkClick r:id="rId2"/>
              </a:rPr>
              <a:t>github.com/Mrsaltyx/pret-a-depenser-scoring-mlops</a:t>
            </a:r>
            <a:r>
              <a:rPr lang="en-US" sz="1400" noProof="1">
                <a:solidFill>
                  <a:srgbClr val="16324F"/>
                </a:solidFill>
                <a:latin typeface="MiSans"/>
                <a:ea typeface="MiSans"/>
              </a:rPr>
              <a:t> </a:t>
            </a:r>
            <a:r>
              <a:rPr lang="en-US" sz="1200" noProof="1">
                <a:solidFill>
                  <a:srgbClr val="6B7683"/>
                </a:solidFill>
                <a:latin typeface="MiSans"/>
                <a:ea typeface="MiSans"/>
              </a:rPr>
              <a:t>(dépôt public)</a:t>
            </a:r>
            <a:endParaRPr lang="en-US" sz="1400" noProof="1"/>
          </a:p>
        </p:txBody>
      </p:sp>
      <p:sp>
        <p:nvSpPr>
          <p:cNvPr id="6" name="tree-box"/>
          <p:cNvSpPr/>
          <p:nvPr/>
        </p:nvSpPr>
        <p:spPr>
          <a:xfrm>
            <a:off x="711200" y="2082800"/>
            <a:ext cx="5461000" cy="3810000"/>
          </a:xfrm>
          <a:prstGeom prst="rect">
            <a:avLst/>
          </a:prstGeom>
          <a:solidFill>
            <a:srgbClr val="F4F6F8"/>
          </a:solidFill>
          <a:ln w="12700">
            <a:solidFill>
              <a:srgbClr val="D8DEE4"/>
            </a:solidFill>
          </a:ln>
        </p:spPr>
      </p:sp>
      <p:sp>
        <p:nvSpPr>
          <p:cNvPr id="7" name="tree"/>
          <p:cNvSpPr txBox="1"/>
          <p:nvPr/>
        </p:nvSpPr>
        <p:spPr>
          <a:xfrm>
            <a:off x="914400" y="2235200"/>
            <a:ext cx="5080000" cy="3556000"/>
          </a:xfrm>
          <a:prstGeom prst="rect">
            <a:avLst/>
          </a:prstGeom>
          <a:noFill/>
          <a:ln>
            <a:noFill/>
          </a:ln>
        </p:spPr>
        <p:txBody>
          <a:bodyPr lIns="0" rIns="0" tIns="0" bIns="0" wrap="square" rtlCol="0"/>
          <a:lstStyle/>
          <a:p>
            <a:pPr>
              <a:lnSpc>
                <a:spcPct val="140000"/>
              </a:lnSpc>
            </a:pPr>
            <a:r>
              <a:rPr lang="en-US" sz="1100" noProof="1">
                <a:solidFill>
                  <a:srgbClr val="33404D"/>
                </a:solidFill>
                <a:latin typeface="JetBrains Mono"/>
                <a:ea typeface="JetBrains Mono"/>
              </a:rPr>
              <a:t>├── api/            </a:t>
            </a:r>
            <a:r>
              <a:rPr lang="en-US" sz="1100" noProof="1">
                <a:solidFill>
                  <a:srgbClr val="6B7683"/>
                </a:solidFill>
                <a:latin typeface="JetBrains Mono"/>
                <a:ea typeface="JetBrains Mono"/>
              </a:rPr>
              <a:t># FastAPI : schemas, moteur ONNX, storage</a:t>
            </a:r>
            <a:endParaRPr lang="en-US" sz="1100" noProof="1"/>
          </a:p>
          <a:p>
            <a:pPr>
              <a:lnSpc>
                <a:spcPct val="140000"/>
              </a:lnSpc>
            </a:pPr>
            <a:r>
              <a:rPr lang="en-US" sz="1100" noProof="1">
                <a:solidFill>
                  <a:srgbClr val="33404D"/>
                </a:solidFill>
                <a:latin typeface="JetBrains Mono"/>
                <a:ea typeface="JetBrains Mono"/>
              </a:rPr>
              <a:t>├── tests/          </a:t>
            </a:r>
            <a:r>
              <a:rPr lang="en-US" sz="1100" noProof="1">
                <a:solidFill>
                  <a:srgbClr val="6B7683"/>
                </a:solidFill>
                <a:latin typeface="JetBrains Mono"/>
                <a:ea typeface="JetBrains Mono"/>
              </a:rPr>
              <a:t># 21 tests pytest</a:t>
            </a:r>
            <a:endParaRPr lang="en-US" sz="1100" noProof="1"/>
          </a:p>
          <a:p>
            <a:pPr>
              <a:lnSpc>
                <a:spcPct val="140000"/>
              </a:lnSpc>
            </a:pPr>
            <a:r>
              <a:rPr lang="en-US" sz="1100" noProof="1">
                <a:solidFill>
                  <a:srgbClr val="33404D"/>
                </a:solidFill>
                <a:latin typeface="JetBrains Mono"/>
                <a:ea typeface="JetBrains Mono"/>
              </a:rPr>
              <a:t>├── monitoring/     </a:t>
            </a:r>
            <a:r>
              <a:rPr lang="en-US" sz="1100" noProof="1">
                <a:solidFill>
                  <a:srgbClr val="6B7683"/>
                </a:solidFill>
                <a:latin typeface="JetBrains Mono"/>
                <a:ea typeface="JetBrains Mono"/>
              </a:rPr>
              <a:t># simulation, drift Evidently, dashboard</a:t>
            </a:r>
            <a:endParaRPr lang="en-US" sz="1100" noProof="1"/>
          </a:p>
          <a:p>
            <a:pPr>
              <a:lnSpc>
                <a:spcPct val="140000"/>
              </a:lnSpc>
            </a:pPr>
            <a:r>
              <a:rPr lang="en-US" sz="1100" noProof="1">
                <a:solidFill>
                  <a:srgbClr val="33404D"/>
                </a:solidFill>
                <a:latin typeface="JetBrains Mono"/>
                <a:ea typeface="JetBrains Mono"/>
              </a:rPr>
              <a:t>├── optimization/   </a:t>
            </a:r>
            <a:r>
              <a:rPr lang="en-US" sz="1100" noProof="1">
                <a:solidFill>
                  <a:srgbClr val="6B7683"/>
                </a:solidFill>
                <a:latin typeface="JetBrains Mono"/>
                <a:ea typeface="JetBrains Mono"/>
              </a:rPr>
              <a:t># profiling, benchmarks, rapport</a:t>
            </a:r>
            <a:endParaRPr lang="en-US" sz="1100" noProof="1"/>
          </a:p>
          <a:p>
            <a:pPr>
              <a:lnSpc>
                <a:spcPct val="140000"/>
              </a:lnSpc>
            </a:pPr>
            <a:r>
              <a:rPr lang="en-US" sz="1100" noProof="1">
                <a:solidFill>
                  <a:srgbClr val="33404D"/>
                </a:solidFill>
                <a:latin typeface="JetBrains Mono"/>
                <a:ea typeface="JetBrains Mono"/>
              </a:rPr>
              <a:t>├── models/         </a:t>
            </a:r>
            <a:r>
              <a:rPr lang="en-US" sz="1100" noProof="1">
                <a:solidFill>
                  <a:srgbClr val="6B7683"/>
                </a:solidFill>
                <a:latin typeface="JetBrains Mono"/>
                <a:ea typeface="JetBrains Mono"/>
              </a:rPr>
              <a:t># model.onnx + model.skops + seuil</a:t>
            </a:r>
            <a:endParaRPr lang="en-US" sz="1100" noProof="1"/>
          </a:p>
          <a:p>
            <a:pPr>
              <a:lnSpc>
                <a:spcPct val="140000"/>
              </a:lnSpc>
            </a:pPr>
            <a:r>
              <a:rPr lang="en-US" sz="1100" noProof="1">
                <a:solidFill>
                  <a:srgbClr val="33404D"/>
                </a:solidFill>
                <a:latin typeface="JetBrains Mono"/>
                <a:ea typeface="JetBrains Mono"/>
              </a:rPr>
              <a:t>├── src/            </a:t>
            </a:r>
            <a:r>
              <a:rPr lang="en-US" sz="1100" noProof="1">
                <a:solidFill>
                  <a:srgbClr val="6B7683"/>
                </a:solidFill>
                <a:latin typeface="JetBrains Mono"/>
                <a:ea typeface="JetBrains Mono"/>
              </a:rPr>
              <a:t># code partie 1 (MLflow)</a:t>
            </a:r>
            <a:endParaRPr lang="en-US" sz="1100" noProof="1"/>
          </a:p>
          <a:p>
            <a:pPr>
              <a:lnSpc>
                <a:spcPct val="140000"/>
              </a:lnSpc>
            </a:pPr>
            <a:r>
              <a:rPr lang="en-US" sz="1100" noProof="1">
                <a:solidFill>
                  <a:srgbClr val="33404D"/>
                </a:solidFill>
                <a:latin typeface="JetBrains Mono"/>
                <a:ea typeface="JetBrains Mono"/>
              </a:rPr>
              <a:t>├── artifacts/      </a:t>
            </a:r>
            <a:r>
              <a:rPr lang="en-US" sz="1100" noProof="1">
                <a:solidFill>
                  <a:srgbClr val="6B7683"/>
                </a:solidFill>
                <a:latin typeface="JetBrains Mono"/>
                <a:ea typeface="JetBrains Mono"/>
              </a:rPr>
              <a:t># résultats et figures partie 1</a:t>
            </a:r>
            <a:endParaRPr lang="en-US" sz="1100" noProof="1"/>
          </a:p>
          <a:p>
            <a:pPr>
              <a:lnSpc>
                <a:spcPct val="140000"/>
              </a:lnSpc>
            </a:pPr>
            <a:r>
              <a:rPr lang="en-US" sz="1100" noProof="1">
                <a:solidFill>
                  <a:srgbClr val="33404D"/>
                </a:solidFill>
                <a:latin typeface="JetBrains Mono"/>
                <a:ea typeface="JetBrains Mono"/>
              </a:rPr>
              <a:t>├── docs/screenshots/ </a:t>
            </a:r>
            <a:r>
              <a:rPr lang="en-US" sz="1100" noProof="1">
                <a:solidFill>
                  <a:srgbClr val="6B7683"/>
                </a:solidFill>
                <a:latin typeface="JetBrains Mono"/>
                <a:ea typeface="JetBrains Mono"/>
              </a:rPr>
              <a:t># solution de stockage</a:t>
            </a:r>
            <a:endParaRPr lang="en-US" sz="1100" noProof="1"/>
          </a:p>
          <a:p>
            <a:pPr>
              <a:lnSpc>
                <a:spcPct val="140000"/>
              </a:lnSpc>
            </a:pPr>
            <a:r>
              <a:rPr lang="en-US" sz="1100" noProof="1">
                <a:solidFill>
                  <a:srgbClr val="33404D"/>
                </a:solidFill>
                <a:latin typeface="JetBrains Mono"/>
                <a:ea typeface="JetBrains Mono"/>
              </a:rPr>
              <a:t>├── Dockerfile      </a:t>
            </a:r>
            <a:r>
              <a:rPr lang="en-US" sz="1100" noProof="1">
                <a:solidFill>
                  <a:srgbClr val="6B7683"/>
                </a:solidFill>
                <a:latin typeface="JetBrains Mono"/>
                <a:ea typeface="JetBrains Mono"/>
              </a:rPr>
              <a:t># image python:3.12-slim</a:t>
            </a:r>
            <a:endParaRPr lang="en-US" sz="1100" noProof="1"/>
          </a:p>
          <a:p>
            <a:pPr>
              <a:lnSpc>
                <a:spcPct val="140000"/>
              </a:lnSpc>
            </a:pPr>
            <a:r>
              <a:rPr lang="en-US" sz="1100" noProof="1">
                <a:solidFill>
                  <a:srgbClr val="33404D"/>
                </a:solidFill>
                <a:latin typeface="JetBrains Mono"/>
                <a:ea typeface="JetBrains Mono"/>
              </a:rPr>
              <a:t>├── .github/workflows/ci-cd.yml</a:t>
            </a:r>
            <a:endParaRPr lang="en-US" sz="1100" noProof="1"/>
          </a:p>
          <a:p>
            <a:pPr>
              <a:lnSpc>
                <a:spcPct val="140000"/>
              </a:lnSpc>
            </a:pPr>
            <a:r>
              <a:rPr lang="en-US" sz="1100" noProof="1">
                <a:solidFill>
                  <a:srgbClr val="33404D"/>
                </a:solidFill>
                <a:latin typeface="JetBrains Mono"/>
                <a:ea typeface="JetBrains Mono"/>
              </a:rPr>
              <a:t>└── README.md       </a:t>
            </a:r>
            <a:r>
              <a:rPr lang="en-US" sz="1100" noProof="1">
                <a:solidFill>
                  <a:srgbClr val="6B7683"/>
                </a:solidFill>
                <a:latin typeface="JetBrains Mono"/>
                <a:ea typeface="JetBrains Mono"/>
              </a:rPr>
              <a:t># lancer l'API, lire le monitoring</a:t>
            </a:r>
            <a:endParaRPr lang="en-US" sz="1100" noProof="1"/>
          </a:p>
        </p:txBody>
      </p:sp>
      <p:sp>
        <p:nvSpPr>
          <p:cNvPr id="8" name="right-head"/>
          <p:cNvSpPr txBox="1"/>
          <p:nvPr/>
        </p:nvSpPr>
        <p:spPr>
          <a:xfrm>
            <a:off x="6731000" y="2082800"/>
            <a:ext cx="47498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Historique des versions (git log)</a:t>
            </a:r>
            <a:endParaRPr lang="en-US" sz="1200" noProof="1"/>
          </a:p>
        </p:txBody>
      </p:sp>
      <p:sp>
        <p:nvSpPr>
          <p:cNvPr id="9" name="commits"/>
          <p:cNvSpPr txBox="1"/>
          <p:nvPr/>
        </p:nvSpPr>
        <p:spPr>
          <a:xfrm>
            <a:off x="6731000" y="2413000"/>
            <a:ext cx="4749800" cy="2413000"/>
          </a:xfrm>
          <a:prstGeom prst="rect">
            <a:avLst/>
          </a:prstGeom>
          <a:noFill/>
          <a:ln>
            <a:noFill/>
          </a:ln>
        </p:spPr>
        <p:txBody>
          <a:bodyPr lIns="0" rIns="0" tIns="0" bIns="0" wrap="square" rtlCol="0"/>
          <a:lstStyle/>
          <a:p>
            <a:pPr>
              <a:lnSpc>
                <a:spcPct val="145000"/>
              </a:lnSpc>
            </a:pPr>
            <a:r>
              <a:rPr lang="en-US" sz="1200" noProof="1">
                <a:solidFill>
                  <a:srgbClr val="33404D"/>
                </a:solidFill>
                <a:latin typeface="MiSans"/>
                <a:ea typeface="MiSans"/>
              </a:rPr>
              <a:t>• </a:t>
            </a:r>
            <a:r>
              <a:rPr lang="en-US" sz="1100" noProof="1">
                <a:solidFill>
                  <a:srgbClr val="33404D"/>
                </a:solidFill>
                <a:latin typeface="JetBrains Mono"/>
                <a:ea typeface="JetBrains Mono"/>
              </a:rPr>
              <a:t>9aab659</a:t>
            </a:r>
            <a:r>
              <a:rPr lang="en-US" sz="1200" noProof="1">
                <a:solidFill>
                  <a:srgbClr val="33404D"/>
                </a:solidFill>
                <a:latin typeface="MiSans"/>
                <a:ea typeface="MiSans"/>
              </a:rPr>
              <a:t> Partie 1 : code source du modèle de scoring</a:t>
            </a:r>
            <a:endParaRPr lang="en-US" sz="1200" noProof="1"/>
          </a:p>
          <a:p>
            <a:pPr>
              <a:lnSpc>
                <a:spcPct val="145000"/>
              </a:lnSpc>
              <a:spcBef>
                <a:spcPts val="700"/>
              </a:spcBef>
            </a:pPr>
            <a:r>
              <a:rPr lang="en-US" sz="1200" noProof="1">
                <a:solidFill>
                  <a:srgbClr val="33404D"/>
                </a:solidFill>
                <a:latin typeface="MiSans"/>
                <a:ea typeface="MiSans"/>
              </a:rPr>
              <a:t>• </a:t>
            </a:r>
            <a:r>
              <a:rPr lang="en-US" sz="1100" noProof="1">
                <a:solidFill>
                  <a:srgbClr val="33404D"/>
                </a:solidFill>
                <a:latin typeface="JetBrains Mono"/>
                <a:ea typeface="JetBrains Mono"/>
              </a:rPr>
              <a:t>3d29cf2</a:t>
            </a:r>
            <a:r>
              <a:rPr lang="en-US" sz="1200" noProof="1">
                <a:solidFill>
                  <a:srgbClr val="33404D"/>
                </a:solidFill>
                <a:latin typeface="MiSans"/>
                <a:ea typeface="MiSans"/>
              </a:rPr>
              <a:t> Partie 1 : artefacts (comparaison, seuil, figures)</a:t>
            </a:r>
            <a:endParaRPr lang="en-US" sz="1200" noProof="1"/>
          </a:p>
          <a:p>
            <a:pPr>
              <a:lnSpc>
                <a:spcPct val="145000"/>
              </a:lnSpc>
              <a:spcBef>
                <a:spcPts val="700"/>
              </a:spcBef>
            </a:pPr>
            <a:r>
              <a:rPr lang="en-US" sz="1200" noProof="1">
                <a:solidFill>
                  <a:srgbClr val="33404D"/>
                </a:solidFill>
                <a:latin typeface="MiSans"/>
                <a:ea typeface="MiSans"/>
              </a:rPr>
              <a:t>• </a:t>
            </a:r>
            <a:r>
              <a:rPr lang="en-US" sz="1100" noProof="1">
                <a:solidFill>
                  <a:srgbClr val="33404D"/>
                </a:solidFill>
                <a:latin typeface="JetBrains Mono"/>
                <a:ea typeface="JetBrains Mono"/>
              </a:rPr>
              <a:t>2bd92c1</a:t>
            </a:r>
            <a:r>
              <a:rPr lang="en-US" sz="1200" noProof="1">
                <a:solidFill>
                  <a:srgbClr val="33404D"/>
                </a:solidFill>
                <a:latin typeface="MiSans"/>
                <a:ea typeface="MiSans"/>
              </a:rPr>
              <a:t> Partie 2 : export du modèle final + seuil + schéma</a:t>
            </a:r>
            <a:endParaRPr lang="en-US" sz="1200" noProof="1"/>
          </a:p>
          <a:p>
            <a:pPr>
              <a:lnSpc>
                <a:spcPct val="145000"/>
              </a:lnSpc>
              <a:spcBef>
                <a:spcPts val="700"/>
              </a:spcBef>
            </a:pPr>
            <a:r>
              <a:rPr lang="en-US" sz="1200" noProof="1">
                <a:solidFill>
                  <a:srgbClr val="33404D"/>
                </a:solidFill>
                <a:latin typeface="MiSans"/>
                <a:ea typeface="MiSans"/>
              </a:rPr>
              <a:t>• </a:t>
            </a:r>
            <a:r>
              <a:rPr lang="en-US" sz="1100" noProof="1">
                <a:solidFill>
                  <a:srgbClr val="33404D"/>
                </a:solidFill>
                <a:latin typeface="JetBrains Mono"/>
                <a:ea typeface="JetBrains Mono"/>
              </a:rPr>
              <a:t>4a4ccae</a:t>
            </a:r>
            <a:r>
              <a:rPr lang="en-US" sz="1200" noProof="1">
                <a:solidFill>
                  <a:srgbClr val="33404D"/>
                </a:solidFill>
                <a:latin typeface="MiSans"/>
                <a:ea typeface="MiSans"/>
              </a:rPr>
              <a:t> Partie 2 : API + tests + Docker + CI/CD + monitoring + optimisation</a:t>
            </a:r>
            <a:endParaRPr lang="en-US" sz="1200" noProof="1"/>
          </a:p>
        </p:txBody>
      </p:sp>
      <p:sp>
        <p:nvSpPr>
          <p:cNvPr id="10" name="hyg"/>
          <p:cNvSpPr txBox="1"/>
          <p:nvPr/>
        </p:nvSpPr>
        <p:spPr>
          <a:xfrm>
            <a:off x="6731000" y="5003800"/>
            <a:ext cx="4749800" cy="965200"/>
          </a:xfrm>
          <a:prstGeom prst="rect">
            <a:avLst/>
          </a:prstGeom>
          <a:noFill/>
          <a:ln>
            <a:noFill/>
          </a:ln>
        </p:spPr>
        <p:txBody>
          <a:bodyPr lIns="0" rIns="0" tIns="0" bIns="0" wrap="square" rtlCol="0"/>
          <a:lstStyle/>
          <a:p>
            <a:pPr>
              <a:lnSpc>
                <a:spcPct val="145000"/>
              </a:lnSpc>
            </a:pPr>
            <a:r>
              <a:rPr lang="en-US" sz="1200" noProof="1" b="1">
                <a:solidFill>
                  <a:srgbClr val="33404D"/>
                </a:solidFill>
                <a:latin typeface="MiSans"/>
                <a:ea typeface="MiSans"/>
              </a:rPr>
              <a:t>Hygiène du dépôt :</a:t>
            </a:r>
            <a:r>
              <a:rPr lang="en-US" sz="1200" noProof="1">
                <a:solidFill>
                  <a:srgbClr val="33404D"/>
                </a:solidFill>
                <a:latin typeface="MiSans"/>
                <a:ea typeface="MiSans"/>
              </a:rPr>
              <a:t> </a:t>
            </a:r>
            <a:r>
              <a:rPr lang="en-US" sz="1200" noProof="1">
                <a:solidFill>
                  <a:srgbClr val="33404D"/>
                </a:solidFill>
                <a:latin typeface="JetBrains Mono"/>
                <a:ea typeface="JetBrains Mono"/>
              </a:rPr>
              <a:t>.gitignore</a:t>
            </a:r>
            <a:r>
              <a:rPr lang="en-US" sz="1200" noProof="1">
                <a:solidFill>
                  <a:srgbClr val="33404D"/>
                </a:solidFill>
                <a:latin typeface="MiSans"/>
                <a:ea typeface="MiSans"/>
              </a:rPr>
              <a:t> exclut données, </a:t>
            </a:r>
            <a:r>
              <a:rPr lang="en-US" sz="1200" noProof="1">
                <a:solidFill>
                  <a:srgbClr val="33404D"/>
                </a:solidFill>
                <a:latin typeface="JetBrains Mono"/>
                <a:ea typeface="JetBrains Mono"/>
              </a:rPr>
              <a:t>mlruns/</a:t>
            </a:r>
            <a:r>
              <a:rPr lang="en-US" sz="1200" noProof="1">
                <a:solidFill>
                  <a:srgbClr val="33404D"/>
                </a:solidFill>
                <a:latin typeface="MiSans"/>
                <a:ea typeface="MiSans"/>
              </a:rPr>
              <a:t> et logs de production — </a:t>
            </a:r>
            <a:r>
              <a:rPr lang="en-US" sz="1200" noProof="1" b="1">
                <a:solidFill>
                  <a:srgbClr val="33404D"/>
                </a:solidFill>
                <a:latin typeface="MiSans"/>
                <a:ea typeface="MiSans"/>
              </a:rPr>
              <a:t>aucune donnée sensible commitée</a:t>
            </a:r>
            <a:r>
              <a:rPr lang="en-US" sz="1200" noProof="1">
                <a:solidFill>
                  <a:srgbClr val="33404D"/>
                </a:solidFill>
                <a:latin typeface="MiSans"/>
                <a:ea typeface="MiSans"/>
              </a:rPr>
              <a:t>.</a:t>
            </a:r>
            <a:endParaRPr lang="en-US" sz="1200" noProof="1"/>
          </a:p>
        </p:txBody>
      </p:sp>
      <p:sp>
        <p:nvSpPr>
          <p:cNvPr id="11"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12"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13</a:t>
            </a:r>
            <a:endParaRPr lang="en-US" sz="1100" noProof="1"/>
          </a:p>
        </p:txBody>
      </p:sp>
    </p:spTree>
  </p:cSld>
  <p:clrMapOvr>
    <a:masterClrMapping/>
  </p:clrMapOvr>
</p:sld>
</file>

<file path=ppt/slides/slide1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line"/>
          <p:cNvSpPr/>
          <p:nvPr/>
        </p:nvSpPr>
        <p:spPr>
          <a:xfrm>
            <a:off x="711200" y="609600"/>
            <a:ext cx="558800" cy="50800"/>
          </a:xfrm>
          <a:prstGeom prst="rect">
            <a:avLst/>
          </a:prstGeom>
          <a:solidFill>
            <a:srgbClr val="C96A1B"/>
          </a:solidFill>
          <a:ln>
            <a:noFill/>
          </a:ln>
        </p:spPr>
      </p:sp>
      <p:sp>
        <p:nvSpPr>
          <p:cNvPr id="3" name="h-title"/>
          <p:cNvSpPr txBox="1"/>
          <p:nvPr/>
        </p:nvSpPr>
        <p:spPr>
          <a:xfrm>
            <a:off x="711200" y="787400"/>
            <a:ext cx="10769600" cy="457200"/>
          </a:xfrm>
          <a:prstGeom prst="rect">
            <a:avLst/>
          </a:prstGeom>
          <a:noFill/>
          <a:ln>
            <a:noFill/>
          </a:ln>
        </p:spPr>
        <p:txBody>
          <a:bodyPr lIns="0" rIns="0" tIns="0" bIns="0" wrap="none" rtlCol="0"/>
          <a:lstStyle/>
          <a:p>
            <a:pPr>
              <a:lnSpc>
                <a:spcPct val="120000"/>
              </a:lnSpc>
            </a:pPr>
            <a:r>
              <a:rPr lang="en-US" sz="2600" noProof="1" b="1">
                <a:solidFill>
                  <a:srgbClr val="16324F"/>
                </a:solidFill>
                <a:latin typeface="MiSans"/>
                <a:ea typeface="MiSans"/>
              </a:rPr>
              <a:t>Bilan : une API « Docker Ready », rapide et surveillée</a:t>
            </a:r>
            <a:endParaRPr lang="en-US" sz="2600" noProof="1"/>
          </a:p>
        </p:txBody>
      </p:sp>
      <p:sp>
        <p:nvSpPr>
          <p:cNvPr id="4" name="done-head"/>
          <p:cNvSpPr txBox="1"/>
          <p:nvPr/>
        </p:nvSpPr>
        <p:spPr>
          <a:xfrm>
            <a:off x="711200" y="1549400"/>
            <a:ext cx="53340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Ce qui est en production</a:t>
            </a:r>
            <a:endParaRPr lang="en-US" sz="1200" noProof="1"/>
          </a:p>
        </p:txBody>
      </p:sp>
      <p:sp>
        <p:nvSpPr>
          <p:cNvPr id="5" name="done"/>
          <p:cNvSpPr txBox="1"/>
          <p:nvPr/>
        </p:nvSpPr>
        <p:spPr>
          <a:xfrm>
            <a:off x="711200" y="1854200"/>
            <a:ext cx="5334000" cy="2286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API FastAPI validée (21 tests) et conteneurisée</a:t>
            </a:r>
            <a:endParaRPr lang="en-US" sz="1250" noProof="1"/>
          </a:p>
          <a:p>
            <a:pPr>
              <a:lnSpc>
                <a:spcPct val="145000"/>
              </a:lnSpc>
              <a:spcBef>
                <a:spcPts val="700"/>
              </a:spcBef>
            </a:pPr>
            <a:r>
              <a:rPr lang="en-US" sz="1250" noProof="1">
                <a:solidFill>
                  <a:srgbClr val="33404D"/>
                </a:solidFill>
                <a:latin typeface="MiSans"/>
                <a:ea typeface="MiSans"/>
              </a:rPr>
              <a:t>• CI/CD : tests → build Docker → déploiement à chaque push sur main</a:t>
            </a:r>
            <a:endParaRPr lang="en-US" sz="1250" noProof="1"/>
          </a:p>
          <a:p>
            <a:pPr>
              <a:lnSpc>
                <a:spcPct val="145000"/>
              </a:lnSpc>
              <a:spcBef>
                <a:spcPts val="700"/>
              </a:spcBef>
            </a:pPr>
            <a:r>
              <a:rPr lang="en-US" sz="1250" noProof="1">
                <a:solidFill>
                  <a:srgbClr val="33404D"/>
                </a:solidFill>
                <a:latin typeface="MiSans"/>
                <a:ea typeface="MiSans"/>
              </a:rPr>
              <a:t>• Inférence ONNX : ~0,8 ms de bout en bout (× 9), parité vérifiée</a:t>
            </a:r>
            <a:endParaRPr lang="en-US" sz="1250" noProof="1"/>
          </a:p>
          <a:p>
            <a:pPr>
              <a:lnSpc>
                <a:spcPct val="145000"/>
              </a:lnSpc>
              <a:spcBef>
                <a:spcPts val="700"/>
              </a:spcBef>
            </a:pPr>
            <a:r>
              <a:rPr lang="en-US" sz="1250" noProof="1">
                <a:solidFill>
                  <a:srgbClr val="33404D"/>
                </a:solidFill>
                <a:latin typeface="MiSans"/>
                <a:ea typeface="MiSans"/>
              </a:rPr>
              <a:t>• Chaque appel tracé (SQLite + JSONL) ; dérive détectée et documentée ; dashboard Streamlit</a:t>
            </a:r>
            <a:endParaRPr lang="en-US" sz="1250" noProof="1"/>
          </a:p>
        </p:txBody>
      </p:sp>
      <p:sp>
        <p:nvSpPr>
          <p:cNvPr id="6" name="limits-head"/>
          <p:cNvSpPr txBox="1"/>
          <p:nvPr/>
        </p:nvSpPr>
        <p:spPr>
          <a:xfrm>
            <a:off x="6731000" y="1549400"/>
            <a:ext cx="4749800" cy="254000"/>
          </a:xfrm>
          <a:prstGeom prst="rect">
            <a:avLst/>
          </a:prstGeom>
          <a:noFill/>
          <a:ln>
            <a:noFill/>
          </a:ln>
        </p:spPr>
        <p:txBody>
          <a:bodyPr lIns="0" rIns="0" tIns="0" bIns="0" wrap="none" rtlCol="0"/>
          <a:lstStyle/>
          <a:p>
            <a:pPr>
              <a:lnSpc>
                <a:spcPct val="120000"/>
              </a:lnSpc>
            </a:pPr>
            <a:r>
              <a:rPr lang="en-US" sz="1200" noProof="1" b="1">
                <a:solidFill>
                  <a:srgbClr val="16324F"/>
                </a:solidFill>
                <a:latin typeface="MiSans"/>
                <a:ea typeface="MiSans"/>
              </a:rPr>
              <a:t>Limites et prochaines étapes</a:t>
            </a:r>
            <a:endParaRPr lang="en-US" sz="1200" noProof="1"/>
          </a:p>
        </p:txBody>
      </p:sp>
      <p:sp>
        <p:nvSpPr>
          <p:cNvPr id="7" name="limits"/>
          <p:cNvSpPr txBox="1"/>
          <p:nvPr/>
        </p:nvSpPr>
        <p:spPr>
          <a:xfrm>
            <a:off x="6731000" y="1854200"/>
            <a:ext cx="4749800" cy="2540000"/>
          </a:xfrm>
          <a:prstGeom prst="rect">
            <a:avLst/>
          </a:prstGeom>
          <a:noFill/>
          <a:ln>
            <a:noFill/>
          </a:ln>
        </p:spPr>
        <p:txBody>
          <a:bodyPr lIns="0" rIns="0" tIns="0" bIns="0" wrap="square" rtlCol="0"/>
          <a:lstStyle/>
          <a:p>
            <a:pPr>
              <a:lnSpc>
                <a:spcPct val="145000"/>
              </a:lnSpc>
            </a:pPr>
            <a:r>
              <a:rPr lang="en-US" sz="1250" noProof="1">
                <a:solidFill>
                  <a:srgbClr val="33404D"/>
                </a:solidFill>
                <a:latin typeface="MiSans"/>
                <a:ea typeface="MiSans"/>
              </a:rPr>
              <a:t>• Déploiement cloud réel (registry + secrets GitHub configurés) plutôt que runner local</a:t>
            </a:r>
            <a:endParaRPr lang="en-US" sz="1250" noProof="1"/>
          </a:p>
          <a:p>
            <a:pPr>
              <a:lnSpc>
                <a:spcPct val="145000"/>
              </a:lnSpc>
              <a:spcBef>
                <a:spcPts val="700"/>
              </a:spcBef>
            </a:pPr>
            <a:r>
              <a:rPr lang="en-US" sz="1250" noProof="1">
                <a:solidFill>
                  <a:srgbClr val="33404D"/>
                </a:solidFill>
                <a:latin typeface="MiSans"/>
                <a:ea typeface="MiSans"/>
              </a:rPr>
              <a:t>• Authentification de l'API et montée en charge (tests de charge, uvicorn multi-workers)</a:t>
            </a:r>
            <a:endParaRPr lang="en-US" sz="1250" noProof="1"/>
          </a:p>
          <a:p>
            <a:pPr>
              <a:lnSpc>
                <a:spcPct val="145000"/>
              </a:lnSpc>
              <a:spcBef>
                <a:spcPts val="700"/>
              </a:spcBef>
            </a:pPr>
            <a:r>
              <a:rPr lang="en-US" sz="1250" noProof="1">
                <a:solidFill>
                  <a:srgbClr val="33404D"/>
                </a:solidFill>
                <a:latin typeface="MiSans"/>
                <a:ea typeface="MiSans"/>
              </a:rPr>
              <a:t>• Alerting automatique sur dérive du score + politique de ré-entraînement</a:t>
            </a:r>
            <a:endParaRPr lang="en-US" sz="1250" noProof="1"/>
          </a:p>
          <a:p>
            <a:pPr>
              <a:lnSpc>
                <a:spcPct val="145000"/>
              </a:lnSpc>
              <a:spcBef>
                <a:spcPts val="700"/>
              </a:spcBef>
            </a:pPr>
            <a:r>
              <a:rPr lang="en-US" sz="1250" noProof="1">
                <a:solidFill>
                  <a:srgbClr val="33404D"/>
                </a:solidFill>
                <a:latin typeface="MiSans"/>
                <a:ea typeface="MiSans"/>
              </a:rPr>
              <a:t>• AUC 0,79 perfectible (feature engineering + early stopping, partie 1)</a:t>
            </a:r>
            <a:endParaRPr lang="en-US" sz="1250" noProof="1"/>
          </a:p>
        </p:txBody>
      </p:sp>
      <p:sp>
        <p:nvSpPr>
          <p:cNvPr id="8" name="sep"/>
          <p:cNvSpPr/>
          <p:nvPr/>
        </p:nvSpPr>
        <p:spPr>
          <a:xfrm>
            <a:off x="711200" y="4521200"/>
            <a:ext cx="10769600" cy="12700"/>
          </a:xfrm>
          <a:prstGeom prst="rect">
            <a:avLst/>
          </a:prstGeom>
          <a:solidFill>
            <a:srgbClr val="D8DEE4"/>
          </a:solidFill>
          <a:ln>
            <a:noFill/>
          </a:ln>
        </p:spPr>
      </p:sp>
      <p:sp>
        <p:nvSpPr>
          <p:cNvPr id="9" name="closing"/>
          <p:cNvSpPr txBox="1"/>
          <p:nvPr/>
        </p:nvSpPr>
        <p:spPr>
          <a:xfrm>
            <a:off x="711200" y="4800600"/>
            <a:ext cx="10769600" cy="762000"/>
          </a:xfrm>
          <a:prstGeom prst="rect">
            <a:avLst/>
          </a:prstGeom>
          <a:noFill/>
          <a:ln>
            <a:noFill/>
          </a:ln>
        </p:spPr>
        <p:txBody>
          <a:bodyPr lIns="0" rIns="0" tIns="0" bIns="0" wrap="square" rtlCol="0"/>
          <a:lstStyle/>
          <a:p>
            <a:pPr>
              <a:lnSpc>
                <a:spcPct val="150000"/>
              </a:lnSpc>
            </a:pPr>
            <a:r>
              <a:rPr lang="en-US" sz="1600" noProof="1">
                <a:solidFill>
                  <a:srgbClr val="16324F"/>
                </a:solidFill>
                <a:latin typeface="MiSans"/>
                <a:ea typeface="MiSans"/>
              </a:rPr>
              <a:t>Le modèle validé en partie 1 est désormais un </a:t>
            </a:r>
            <a:r>
              <a:rPr lang="en-US" sz="1600" noProof="1" b="1">
                <a:solidFill>
                  <a:srgbClr val="16324F"/>
                </a:solidFill>
                <a:latin typeface="MiSans"/>
                <a:ea typeface="MiSans"/>
              </a:rPr>
              <a:t>service déployable, testé, observable et optimisé</a:t>
            </a:r>
            <a:r>
              <a:rPr lang="en-US" sz="1600" noProof="1">
                <a:solidFill>
                  <a:srgbClr val="16324F"/>
                </a:solidFill>
                <a:latin typeface="MiSans"/>
                <a:ea typeface="MiSans"/>
              </a:rPr>
              <a:t>,</a:t>
            </a:r>
            <a:endParaRPr lang="en-US" sz="1600" noProof="1"/>
          </a:p>
          <a:p>
            <a:pPr>
              <a:lnSpc>
                <a:spcPct val="150000"/>
              </a:lnSpc>
            </a:pPr>
            <a:r>
              <a:rPr lang="en-US" sz="1600" noProof="1">
                <a:solidFill>
                  <a:srgbClr val="16324F"/>
                </a:solidFill>
                <a:latin typeface="MiSans"/>
                <a:ea typeface="MiSans"/>
              </a:rPr>
              <a:t>prêt pour le traitement des demandes Crédit Express en quasi temps réel.</a:t>
            </a:r>
            <a:endParaRPr lang="en-US" sz="1600" noProof="1"/>
          </a:p>
        </p:txBody>
      </p:sp>
      <p:sp>
        <p:nvSpPr>
          <p:cNvPr id="10" name="closing-sub"/>
          <p:cNvSpPr txBox="1"/>
          <p:nvPr/>
        </p:nvSpPr>
        <p:spPr>
          <a:xfrm>
            <a:off x="711200" y="5740400"/>
            <a:ext cx="10769600" cy="304800"/>
          </a:xfrm>
          <a:prstGeom prst="rect">
            <a:avLst/>
          </a:prstGeom>
          <a:noFill/>
          <a:ln>
            <a:noFill/>
          </a:ln>
        </p:spPr>
        <p:txBody>
          <a:bodyPr lIns="0" rIns="0" tIns="0" bIns="0" wrap="none" rtlCol="0"/>
          <a:lstStyle/>
          <a:p>
            <a:pPr>
              <a:lnSpc>
                <a:spcPct val="120000"/>
              </a:lnSpc>
            </a:pPr>
            <a:r>
              <a:rPr lang="en-US" sz="1500" noProof="1">
                <a:solidFill>
                  <a:srgbClr val="6B7683"/>
                </a:solidFill>
                <a:latin typeface="MiSans"/>
                <a:ea typeface="MiSans"/>
              </a:rPr>
              <a:t>Questions de Chloé — discussion (10 min) puis débrief (5 min).</a:t>
            </a:r>
            <a:endParaRPr lang="en-US" sz="1500" noProof="1"/>
          </a:p>
        </p:txBody>
      </p:sp>
      <p:sp>
        <p:nvSpPr>
          <p:cNvPr id="11" name="footer"/>
          <p:cNvSpPr txBox="1"/>
          <p:nvPr/>
        </p:nvSpPr>
        <p:spPr>
          <a:xfrm>
            <a:off x="711200" y="6477000"/>
            <a:ext cx="6350000" cy="228600"/>
          </a:xfrm>
          <a:prstGeom prst="rect">
            <a:avLst/>
          </a:prstGeom>
          <a:noFill/>
          <a:ln>
            <a:noFill/>
          </a:ln>
        </p:spPr>
        <p:txBody>
          <a:bodyPr lIns="0" rIns="0" tIns="0" bIns="0" wrap="none" rtlCol="0"/>
          <a:lstStyle/>
          <a:p>
            <a:pPr>
              <a:lnSpc>
                <a:spcPct val="135000"/>
              </a:lnSpc>
            </a:pPr>
            <a:r>
              <a:rPr lang="en-US" sz="1100" noProof="1">
                <a:solidFill>
                  <a:srgbClr val="6B7683"/>
                </a:solidFill>
                <a:latin typeface="MiSans"/>
                <a:ea typeface="MiSans"/>
              </a:rPr>
              <a:t>Prêt à Dépenser — MLOps partie 2 · Soutenance</a:t>
            </a:r>
            <a:endParaRPr lang="en-US" sz="1100" noProof="1"/>
          </a:p>
        </p:txBody>
      </p:sp>
      <p:sp>
        <p:nvSpPr>
          <p:cNvPr id="12" name="pagenum"/>
          <p:cNvSpPr txBox="1"/>
          <p:nvPr/>
        </p:nvSpPr>
        <p:spPr>
          <a:xfrm>
            <a:off x="10922000" y="6477000"/>
            <a:ext cx="558800" cy="228600"/>
          </a:xfrm>
          <a:prstGeom prst="rect">
            <a:avLst/>
          </a:prstGeom>
          <a:noFill/>
          <a:ln>
            <a:noFill/>
          </a:ln>
        </p:spPr>
        <p:txBody>
          <a:bodyPr lIns="0" rIns="0" tIns="0" bIns="0" wrap="none" rtlCol="0" anchor="t"/>
          <a:lstStyle/>
          <a:p>
            <a:pPr algn="r">
              <a:lnSpc>
                <a:spcPct val="135000"/>
              </a:lnSpc>
            </a:pPr>
            <a:r>
              <a:rPr lang="en-US" sz="1100" noProof="1">
                <a:solidFill>
                  <a:srgbClr val="6B7683"/>
                </a:solidFill>
                <a:latin typeface="MiSans"/>
                <a:ea typeface="MiSans"/>
              </a:rPr>
              <a:t>14</a:t>
            </a:r>
            <a:endParaRPr lang="en-US" sz="11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Slides>14</Slides>
</Properties>
</file>

<file path=docProps/core.xml><?xml version="1.0" encoding="utf-8"?>
<cp:coreProperties xmlns:dc="http://purl.org/dc/elements/1.1/" xmlns:cp="http://schemas.openxmlformats.org/package/2006/metadata/core-properties">
  <dc:title>soutenance</dc:title>
</cp:coreProperties>
</file>

<file path=docProps/custom.xml><?xml version="1.0" encoding="utf-8"?>
<Properties xmlns:vt="http://schemas.openxmlformats.org/officeDocument/2006/docPropsVTypes" xmlns="http://schemas.openxmlformats.org/officeDocument/2006/custom-properties">
  <property fmtid="{D5CDD505-2E9C-101B-9397-08002B2CF9AE}" pid="4" name="AIGC">
    <vt:lpwstr/>
  </property>
</Properties>
</file>